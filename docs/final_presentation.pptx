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Average read latency, microseconds (lower is better), reads back to back</a:t>
            </a:r>
          </a:p>
        </c:rich>
      </c:tx>
      <c:layout/>
      <c:overlay val="0"/>
    </c:title>
    <c:autoTitleDeleted val="0"/>
    <c:plotArea>
      <c:barChart>
        <c:barDir val="col"/>
        <c:grouping val="clustered"/>
        <c:ser>
          <c:idx val="0"/>
          <c:order val="0"/>
          <c:tx>
            <c:strRef>
              <c:f>Sheet1!$B$1</c:f>
              <c:strCache>
                <c:ptCount val="1"/>
                <c:pt idx="0">
                  <c:v>A: no prediction</c:v>
                </c:pt>
              </c:strCache>
            </c:strRef>
          </c:tx>
          <c:spPr>
            <a:solidFill>
              <a:srgbClr val="9AA5A8"/>
            </a:solidFill>
          </c:spPr>
          <c:cat>
            <c:strRef>
              <c:f>Sheet1!$A$2:$A$5</c:f>
              <c:strCache>
                <c:ptCount val="4"/>
                <c:pt idx="0">
                  <c:v>sequential</c:v>
                </c:pt>
                <c:pt idx="1">
                  <c:v>random</c:v>
                </c:pt>
                <c:pt idx="2">
                  <c:v>repetitive</c:v>
                </c:pt>
                <c:pt idx="3">
                  <c:v>mixed</c:v>
                </c:pt>
              </c:strCache>
            </c:strRef>
          </c:cat>
          <c:val>
            <c:numRef>
              <c:f>Sheet1!$B$2:$B$5</c:f>
              <c:numCache>
                <c:formatCode>General</c:formatCode>
                <c:ptCount val="4"/>
                <c:pt idx="0">
                  <c:v>148</c:v>
                </c:pt>
                <c:pt idx="1">
                  <c:v>329</c:v>
                </c:pt>
                <c:pt idx="2">
                  <c:v>347</c:v>
                </c:pt>
                <c:pt idx="3">
                  <c:v>252</c:v>
                </c:pt>
              </c:numCache>
            </c:numRef>
          </c:val>
        </c:ser>
        <c:ser>
          <c:idx val="1"/>
          <c:order val="1"/>
          <c:tx>
            <c:strRef>
              <c:f>Sheet1!$C$1</c:f>
              <c:strCache>
                <c:ptCount val="1"/>
                <c:pt idx="0">
                  <c:v>B: hand-written</c:v>
                </c:pt>
              </c:strCache>
            </c:strRef>
          </c:tx>
          <c:spPr>
            <a:solidFill>
              <a:srgbClr val="E8963A"/>
            </a:solidFill>
          </c:spPr>
          <c:cat>
            <c:strRef>
              <c:f>Sheet1!$A$2:$A$5</c:f>
              <c:strCache>
                <c:ptCount val="4"/>
                <c:pt idx="0">
                  <c:v>sequential</c:v>
                </c:pt>
                <c:pt idx="1">
                  <c:v>random</c:v>
                </c:pt>
                <c:pt idx="2">
                  <c:v>repetitive</c:v>
                </c:pt>
                <c:pt idx="3">
                  <c:v>mixed</c:v>
                </c:pt>
              </c:strCache>
            </c:strRef>
          </c:cat>
          <c:val>
            <c:numRef>
              <c:f>Sheet1!$C$2:$C$5</c:f>
              <c:numCache>
                <c:formatCode>General</c:formatCode>
                <c:ptCount val="4"/>
                <c:pt idx="0">
                  <c:v>116</c:v>
                </c:pt>
                <c:pt idx="1">
                  <c:v>321</c:v>
                </c:pt>
                <c:pt idx="2">
                  <c:v>195</c:v>
                </c:pt>
                <c:pt idx="3">
                  <c:v>275</c:v>
                </c:pt>
              </c:numCache>
            </c:numRef>
          </c:val>
        </c:ser>
        <c:ser>
          <c:idx val="2"/>
          <c:order val="2"/>
          <c:tx>
            <c:strRef>
              <c:f>Sheet1!$D$1</c:f>
              <c:strCache>
                <c:ptCount val="1"/>
                <c:pt idx="0">
                  <c:v>C: machine learning</c:v>
                </c:pt>
              </c:strCache>
            </c:strRef>
          </c:tx>
          <c:spPr>
            <a:solidFill>
              <a:srgbClr val="0B7285"/>
            </a:solidFill>
          </c:spPr>
          <c:cat>
            <c:strRef>
              <c:f>Sheet1!$A$2:$A$5</c:f>
              <c:strCache>
                <c:ptCount val="4"/>
                <c:pt idx="0">
                  <c:v>sequential</c:v>
                </c:pt>
                <c:pt idx="1">
                  <c:v>random</c:v>
                </c:pt>
                <c:pt idx="2">
                  <c:v>repetitive</c:v>
                </c:pt>
                <c:pt idx="3">
                  <c:v>mixed</c:v>
                </c:pt>
              </c:strCache>
            </c:strRef>
          </c:cat>
          <c:val>
            <c:numRef>
              <c:f>Sheet1!$D$2:$D$5</c:f>
              <c:numCache>
                <c:formatCode>General</c:formatCode>
                <c:ptCount val="4"/>
                <c:pt idx="0">
                  <c:v>87</c:v>
                </c:pt>
                <c:pt idx="1">
                  <c:v>282</c:v>
                </c:pt>
                <c:pt idx="2">
                  <c:v>125</c:v>
                </c:pt>
                <c:pt idx="3">
                  <c:v>212</c:v>
                </c:pt>
              </c:numCache>
            </c:numRef>
          </c:val>
        </c:ser>
        <c:dLbls>
          <c:numFmt formatCode="0" sourceLinked="0"/>
          <c:txPr>
            <a:bodyPr/>
            <a:lstStyle/>
            <a:p>
              <a:pPr>
                <a:defRPr sz="1100">
                  <a:solidFill>
                    <a:srgbClr val="1F2A2E"/>
                  </a:solidFill>
                  <a:latin typeface="Calibri"/>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1D3"/>
            </a:solidFill>
          </a:ln>
        </c:spPr>
        <c:txPr>
          <a:bodyPr/>
          <a:lstStyle/>
          <a:p>
            <a:pPr>
              <a:defRPr sz="1200">
                <a:solidFill>
                  <a:srgbClr val="5C6B70"/>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E3E8E9"/>
              </a:solidFill>
            </a:ln>
          </c:spPr>
        </c:majorGridlines>
        <c:numFmt formatCode="0" sourceLinked="0"/>
        <c:majorTickMark val="out"/>
        <c:minorTickMark val="none"/>
        <c:tickLblPos val="nextTo"/>
        <c:spPr>
          <a:ln>
            <a:solidFill>
              <a:srgbClr val="C9D1D3"/>
            </a:solidFill>
          </a:ln>
        </c:spPr>
        <c:txPr>
          <a:bodyPr/>
          <a:lstStyle/>
          <a:p>
            <a:pPr>
              <a:defRPr sz="1200">
                <a:solidFill>
                  <a:srgbClr val="5C6B70"/>
                </a:solidFill>
                <a:latin typeface="Calibri"/>
              </a:defRPr>
            </a:pPr>
          </a:p>
        </c:txPr>
        <c:crossAx val="-2068027336"/>
        <c:crosses val="autoZero"/>
      </c:valAx>
    </c:plotArea>
    <c:legend>
      <c:legendPos val="b"/>
      <c:overlay val="0"/>
      <c:txPr>
        <a:bodyPr/>
        <a:lstStyle/>
        <a:p>
          <a:pPr>
            <a:defRPr sz="1200">
              <a:solidFill>
                <a:srgbClr val="5C6B70"/>
              </a:solidFill>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Reads served from prefetch, %</a:t>
            </a:r>
          </a:p>
        </c:rich>
      </c:tx>
      <c:layout/>
      <c:overlay val="0"/>
    </c:title>
    <c:autoTitleDeleted val="0"/>
    <c:plotArea>
      <c:barChart>
        <c:barDir val="col"/>
        <c:grouping val="clustered"/>
        <c:ser>
          <c:idx val="0"/>
          <c:order val="0"/>
          <c:tx>
            <c:strRef>
              <c:f>Sheet1!$B$1</c:f>
              <c:strCache>
                <c:ptCount val="1"/>
                <c:pt idx="0">
                  <c:v>B: hand-written</c:v>
                </c:pt>
              </c:strCache>
            </c:strRef>
          </c:tx>
          <c:spPr>
            <a:solidFill>
              <a:srgbClr val="E8963A"/>
            </a:solidFill>
          </c:spPr>
          <c:cat>
            <c:strRef>
              <c:f>Sheet1!$A$2:$A$5</c:f>
              <c:strCache>
                <c:ptCount val="4"/>
                <c:pt idx="0">
                  <c:v>sequential</c:v>
                </c:pt>
                <c:pt idx="1">
                  <c:v>random</c:v>
                </c:pt>
                <c:pt idx="2">
                  <c:v>repetitive</c:v>
                </c:pt>
                <c:pt idx="3">
                  <c:v>mixed</c:v>
                </c:pt>
              </c:strCache>
            </c:strRef>
          </c:cat>
          <c:val>
            <c:numRef>
              <c:f>Sheet1!$B$2:$B$5</c:f>
              <c:numCache>
                <c:formatCode>General</c:formatCode>
                <c:ptCount val="4"/>
                <c:pt idx="0">
                  <c:v>99.7</c:v>
                </c:pt>
                <c:pt idx="1">
                  <c:v>1.1</c:v>
                </c:pt>
                <c:pt idx="2">
                  <c:v>76.8</c:v>
                </c:pt>
                <c:pt idx="3">
                  <c:v>42.1</c:v>
                </c:pt>
              </c:numCache>
            </c:numRef>
          </c:val>
        </c:ser>
        <c:ser>
          <c:idx val="1"/>
          <c:order val="1"/>
          <c:tx>
            <c:strRef>
              <c:f>Sheet1!$C$1</c:f>
              <c:strCache>
                <c:ptCount val="1"/>
                <c:pt idx="0">
                  <c:v>C: machine learning</c:v>
                </c:pt>
              </c:strCache>
            </c:strRef>
          </c:tx>
          <c:spPr>
            <a:solidFill>
              <a:srgbClr val="0B7285"/>
            </a:solidFill>
          </c:spPr>
          <c:cat>
            <c:strRef>
              <c:f>Sheet1!$A$2:$A$5</c:f>
              <c:strCache>
                <c:ptCount val="4"/>
                <c:pt idx="0">
                  <c:v>sequential</c:v>
                </c:pt>
                <c:pt idx="1">
                  <c:v>random</c:v>
                </c:pt>
                <c:pt idx="2">
                  <c:v>repetitive</c:v>
                </c:pt>
                <c:pt idx="3">
                  <c:v>mixed</c:v>
                </c:pt>
              </c:strCache>
            </c:strRef>
          </c:cat>
          <c:val>
            <c:numRef>
              <c:f>Sheet1!$C$2:$C$5</c:f>
              <c:numCache>
                <c:formatCode>General</c:formatCode>
                <c:ptCount val="4"/>
                <c:pt idx="0">
                  <c:v>99.6</c:v>
                </c:pt>
                <c:pt idx="1">
                  <c:v>0</c:v>
                </c:pt>
                <c:pt idx="2">
                  <c:v>82.5</c:v>
                </c:pt>
                <c:pt idx="3">
                  <c:v>23.6</c:v>
                </c:pt>
              </c:numCache>
            </c:numRef>
          </c:val>
        </c:ser>
        <c:dLbls>
          <c:numFmt formatCode="0.0" sourceLinked="0"/>
          <c:txPr>
            <a:bodyPr/>
            <a:lstStyle/>
            <a:p>
              <a:pPr>
                <a:defRPr sz="1100">
                  <a:solidFill>
                    <a:srgbClr val="1F2A2E"/>
                  </a:solidFill>
                  <a:latin typeface="Calibri"/>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1D3"/>
            </a:solidFill>
          </a:ln>
        </c:spPr>
        <c:txPr>
          <a:bodyPr/>
          <a:lstStyle/>
          <a:p>
            <a:pPr>
              <a:defRPr sz="1200">
                <a:solidFill>
                  <a:srgbClr val="5C6B70"/>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E3E8E9"/>
              </a:solidFill>
            </a:ln>
          </c:spPr>
        </c:majorGridlines>
        <c:numFmt formatCode="0.0" sourceLinked="0"/>
        <c:majorTickMark val="out"/>
        <c:minorTickMark val="none"/>
        <c:tickLblPos val="nextTo"/>
        <c:spPr>
          <a:ln>
            <a:solidFill>
              <a:srgbClr val="C9D1D3"/>
            </a:solidFill>
          </a:ln>
        </c:spPr>
        <c:txPr>
          <a:bodyPr/>
          <a:lstStyle/>
          <a:p>
            <a:pPr>
              <a:defRPr sz="1200">
                <a:solidFill>
                  <a:srgbClr val="5C6B70"/>
                </a:solidFill>
                <a:latin typeface="Calibri"/>
              </a:defRPr>
            </a:pPr>
          </a:p>
        </c:txPr>
        <c:crossAx val="-2068027336"/>
        <c:crosses val="autoZero"/>
      </c:valAx>
    </c:plotArea>
    <c:legend>
      <c:legendPos val="b"/>
      <c:overlay val="0"/>
      <c:txPr>
        <a:bodyPr/>
        <a:lstStyle/>
        <a:p>
          <a:pPr>
            <a:defRPr sz="1200">
              <a:solidFill>
                <a:srgbClr val="5C6B70"/>
              </a:solidFill>
              <a:latin typeface="Calibr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Prefetched blocks never used, per run</a:t>
            </a:r>
          </a:p>
        </c:rich>
      </c:tx>
      <c:layout/>
      <c:overlay val="0"/>
    </c:title>
    <c:autoTitleDeleted val="0"/>
    <c:plotArea>
      <c:barChart>
        <c:barDir val="col"/>
        <c:grouping val="clustered"/>
        <c:ser>
          <c:idx val="0"/>
          <c:order val="0"/>
          <c:tx>
            <c:strRef>
              <c:f>Sheet1!$B$1</c:f>
              <c:strCache>
                <c:ptCount val="1"/>
                <c:pt idx="0">
                  <c:v>B: hand-written</c:v>
                </c:pt>
              </c:strCache>
            </c:strRef>
          </c:tx>
          <c:spPr>
            <a:solidFill>
              <a:srgbClr val="E8963A"/>
            </a:solidFill>
          </c:spPr>
          <c:cat>
            <c:strRef>
              <c:f>Sheet1!$A$2:$A$5</c:f>
              <c:strCache>
                <c:ptCount val="4"/>
                <c:pt idx="0">
                  <c:v>sequential</c:v>
                </c:pt>
                <c:pt idx="1">
                  <c:v>random</c:v>
                </c:pt>
                <c:pt idx="2">
                  <c:v>repetitive</c:v>
                </c:pt>
                <c:pt idx="3">
                  <c:v>mixed</c:v>
                </c:pt>
              </c:strCache>
            </c:strRef>
          </c:cat>
          <c:val>
            <c:numRef>
              <c:f>Sheet1!$B$2:$B$5</c:f>
              <c:numCache>
                <c:formatCode>General</c:formatCode>
                <c:ptCount val="4"/>
                <c:pt idx="0">
                  <c:v>0</c:v>
                </c:pt>
                <c:pt idx="1">
                  <c:v>2047</c:v>
                </c:pt>
                <c:pt idx="2">
                  <c:v>169</c:v>
                </c:pt>
                <c:pt idx="3">
                  <c:v>1510</c:v>
                </c:pt>
              </c:numCache>
            </c:numRef>
          </c:val>
        </c:ser>
        <c:ser>
          <c:idx val="1"/>
          <c:order val="1"/>
          <c:tx>
            <c:strRef>
              <c:f>Sheet1!$C$1</c:f>
              <c:strCache>
                <c:ptCount val="1"/>
                <c:pt idx="0">
                  <c:v>C: machine learning</c:v>
                </c:pt>
              </c:strCache>
            </c:strRef>
          </c:tx>
          <c:spPr>
            <a:solidFill>
              <a:srgbClr val="0B7285"/>
            </a:solidFill>
          </c:spPr>
          <c:cat>
            <c:strRef>
              <c:f>Sheet1!$A$2:$A$5</c:f>
              <c:strCache>
                <c:ptCount val="4"/>
                <c:pt idx="0">
                  <c:v>sequential</c:v>
                </c:pt>
                <c:pt idx="1">
                  <c:v>random</c:v>
                </c:pt>
                <c:pt idx="2">
                  <c:v>repetitive</c:v>
                </c:pt>
                <c:pt idx="3">
                  <c:v>mixed</c:v>
                </c:pt>
              </c:strCache>
            </c:strRef>
          </c:cat>
          <c:val>
            <c:numRef>
              <c:f>Sheet1!$C$2:$C$5</c:f>
              <c:numCache>
                <c:formatCode>General</c:formatCode>
                <c:ptCount val="4"/>
                <c:pt idx="0">
                  <c:v>0</c:v>
                </c:pt>
                <c:pt idx="1">
                  <c:v>0</c:v>
                </c:pt>
                <c:pt idx="2">
                  <c:v>0</c:v>
                </c:pt>
                <c:pt idx="3">
                  <c:v>422</c:v>
                </c:pt>
              </c:numCache>
            </c:numRef>
          </c:val>
        </c:ser>
        <c:dLbls>
          <c:numFmt formatCode="#,##0" sourceLinked="0"/>
          <c:txPr>
            <a:bodyPr/>
            <a:lstStyle/>
            <a:p>
              <a:pPr>
                <a:defRPr sz="1100">
                  <a:solidFill>
                    <a:srgbClr val="1F2A2E"/>
                  </a:solidFill>
                  <a:latin typeface="Calibri"/>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1D3"/>
            </a:solidFill>
          </a:ln>
        </c:spPr>
        <c:txPr>
          <a:bodyPr/>
          <a:lstStyle/>
          <a:p>
            <a:pPr>
              <a:defRPr sz="1200">
                <a:solidFill>
                  <a:srgbClr val="5C6B70"/>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E3E8E9"/>
              </a:solidFill>
            </a:ln>
          </c:spPr>
        </c:majorGridlines>
        <c:numFmt formatCode="#,##0" sourceLinked="0"/>
        <c:majorTickMark val="out"/>
        <c:minorTickMark val="none"/>
        <c:tickLblPos val="nextTo"/>
        <c:spPr>
          <a:ln>
            <a:solidFill>
              <a:srgbClr val="C9D1D3"/>
            </a:solidFill>
          </a:ln>
        </c:spPr>
        <c:txPr>
          <a:bodyPr/>
          <a:lstStyle/>
          <a:p>
            <a:pPr>
              <a:defRPr sz="1200">
                <a:solidFill>
                  <a:srgbClr val="5C6B70"/>
                </a:solidFill>
                <a:latin typeface="Calibri"/>
              </a:defRPr>
            </a:pPr>
          </a:p>
        </c:txPr>
        <c:crossAx val="-2068027336"/>
        <c:crosses val="autoZero"/>
      </c:valAx>
    </c:plotArea>
    <c:legend>
      <c:legendPos val="b"/>
      <c:overlay val="0"/>
      <c:txPr>
        <a:bodyPr/>
        <a:lstStyle/>
        <a:p>
          <a:pPr>
            <a:defRPr sz="1200">
              <a:solidFill>
                <a:srgbClr val="5C6B70"/>
              </a:solidFill>
              <a:latin typeface="Calibri"/>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A2E"/>
                </a:solidFill>
                <a:latin typeface="Calibri"/>
              </a:rPr>
              <a:t>Block-mapping queries sent to SQLite, per run</a:t>
            </a:r>
          </a:p>
        </c:rich>
      </c:tx>
      <c:layout/>
      <c:overlay val="0"/>
    </c:title>
    <c:autoTitleDeleted val="0"/>
    <c:plotArea>
      <c:barChart>
        <c:barDir val="col"/>
        <c:grouping val="clustered"/>
        <c:ser>
          <c:idx val="0"/>
          <c:order val="0"/>
          <c:tx>
            <c:strRef>
              <c:f>Sheet1!$B$1</c:f>
              <c:strCache>
                <c:ptCount val="1"/>
                <c:pt idx="0">
                  <c:v>A: fixed 90 / 10</c:v>
                </c:pt>
              </c:strCache>
            </c:strRef>
          </c:tx>
          <c:spPr>
            <a:solidFill>
              <a:srgbClr val="9AA5A8"/>
            </a:solidFill>
          </c:spPr>
          <c:cat>
            <c:strRef>
              <c:f>Sheet1!$A$2:$A$3</c:f>
              <c:strCache>
                <c:ptCount val="2"/>
                <c:pt idx="0">
                  <c:v>random</c:v>
                </c:pt>
                <c:pt idx="1">
                  <c:v>mixed</c:v>
                </c:pt>
              </c:strCache>
            </c:strRef>
          </c:cat>
          <c:val>
            <c:numRef>
              <c:f>Sheet1!$B$2:$B$3</c:f>
              <c:numCache>
                <c:formatCode>General</c:formatCode>
                <c:ptCount val="2"/>
                <c:pt idx="0">
                  <c:v>5313</c:v>
                </c:pt>
                <c:pt idx="1">
                  <c:v>4660</c:v>
                </c:pt>
              </c:numCache>
            </c:numRef>
          </c:val>
        </c:ser>
        <c:ser>
          <c:idx val="1"/>
          <c:order val="1"/>
          <c:tx>
            <c:strRef>
              <c:f>Sheet1!$C$1</c:f>
              <c:strCache>
                <c:ptCount val="1"/>
                <c:pt idx="0">
                  <c:v>C: learned split</c:v>
                </c:pt>
              </c:strCache>
            </c:strRef>
          </c:tx>
          <c:spPr>
            <a:solidFill>
              <a:srgbClr val="0B7285"/>
            </a:solidFill>
          </c:spPr>
          <c:cat>
            <c:strRef>
              <c:f>Sheet1!$A$2:$A$3</c:f>
              <c:strCache>
                <c:ptCount val="2"/>
                <c:pt idx="0">
                  <c:v>random</c:v>
                </c:pt>
                <c:pt idx="1">
                  <c:v>mixed</c:v>
                </c:pt>
              </c:strCache>
            </c:strRef>
          </c:cat>
          <c:val>
            <c:numRef>
              <c:f>Sheet1!$C$2:$C$3</c:f>
              <c:numCache>
                <c:formatCode>General</c:formatCode>
                <c:ptCount val="2"/>
                <c:pt idx="0">
                  <c:v>4725</c:v>
                </c:pt>
                <c:pt idx="1">
                  <c:v>2443</c:v>
                </c:pt>
              </c:numCache>
            </c:numRef>
          </c:val>
        </c:ser>
        <c:dLbls>
          <c:numFmt formatCode="#,##0" sourceLinked="0"/>
          <c:txPr>
            <a:bodyPr/>
            <a:lstStyle/>
            <a:p>
              <a:pPr>
                <a:defRPr sz="1100">
                  <a:solidFill>
                    <a:srgbClr val="1F2A2E"/>
                  </a:solidFill>
                  <a:latin typeface="Calibri"/>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1D3"/>
            </a:solidFill>
          </a:ln>
        </c:spPr>
        <c:txPr>
          <a:bodyPr/>
          <a:lstStyle/>
          <a:p>
            <a:pPr>
              <a:defRPr sz="1200">
                <a:solidFill>
                  <a:srgbClr val="5C6B70"/>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E3E8E9"/>
              </a:solidFill>
            </a:ln>
          </c:spPr>
        </c:majorGridlines>
        <c:numFmt formatCode="#,##0" sourceLinked="0"/>
        <c:majorTickMark val="out"/>
        <c:minorTickMark val="none"/>
        <c:tickLblPos val="nextTo"/>
        <c:spPr>
          <a:ln>
            <a:solidFill>
              <a:srgbClr val="C9D1D3"/>
            </a:solidFill>
          </a:ln>
        </c:spPr>
        <c:txPr>
          <a:bodyPr/>
          <a:lstStyle/>
          <a:p>
            <a:pPr>
              <a:defRPr sz="1200">
                <a:solidFill>
                  <a:srgbClr val="5C6B70"/>
                </a:solidFill>
                <a:latin typeface="Calibri"/>
              </a:defRPr>
            </a:pPr>
          </a:p>
        </c:txPr>
        <c:crossAx val="-2068027336"/>
        <c:crosses val="autoZero"/>
      </c:valAx>
    </c:plotArea>
    <c:legend>
      <c:legendPos val="b"/>
      <c:overlay val="0"/>
      <c:txPr>
        <a:bodyPr/>
        <a:lstStyle/>
        <a:p>
          <a:pPr>
            <a:defRPr sz="1200">
              <a:solidFill>
                <a:srgbClr val="5C6B70"/>
              </a:solidFill>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project in one sentence: a Linux filesystem that keeps data in blocks and metadata in SQLite, and uses machine learning to predict which blocks will be read next and load them ahead of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Filesystems react to reads with fixed rules. A fixed rule fits some programs and not others. Our question: can the filesystem learn the pattern from its own reads?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taken from our proposal. Each one maps to a part of the system you will see.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II asks which OS concepts the project uses. These six are all in the code, and we can show where.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stack. Ordinary programs talk to the kernel, FUSE passes each call to our program. The filesystem layer uses SQLite for metadata, the cache for data, and the model for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and metadata are kept apart. The image file holds only file contents. Everything else is rows in SQLite, which gives us transactions: a failed write rolls 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C is the project. A and B exist only so that C has something fair to be compared with: same filesystem, same cache size, only the policy differs.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 jump first. The tree is never told what sequential means. It is given where the read was and the two jumps before it, and learns what usually follows.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first asked Python for a prediction on every read. It took about 100 microseconds per read, longer than a cached read, so answers arrived late. Now Python sends the trained tree as lines of numbers and the filesystem follows it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caches share one budget. Every 128 reads the filesystem measures what a little more memory would have saved each cache, and how long reads took. A linear regression learns from what happened after each past move.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test for the filesystem runs once for each of the three versions. One test does 600 random operations and compares every byte with a copy kept in memory.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Mount, copy a file in, read it back, unmount, and read the statistics line. Then run the same workload on A, B and 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cache is deliberately small, about 6 percent of the data, so that caching alone cannot hide the difference between the versions.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 is better. C is fastest on all four. Be careful with the random bars: nothing is prefetched there, so that gap is not the model's doing.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how many reads were already in memory because they were prefetched. Right: prefetched blocks that were never used. The tree is nearly always right, but it predicts less on the mixed workload.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model learned to give the mapping cache more memory when reads are scattered, which cut database lookups. It did not change read latency in a way we could measure, and we say so.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would rather say these ourselves. The mixed workload is the real weakness. The random result is not a win. The memory split has a known bad case.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remember. It works as a real filesystem. The model learns patterns nobody wrote down. And moving prediction next to the read path mattered more than which model we used.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comes from a weakness we measured, not from a wish list.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questions: why a decision tree and not a neural network; how is this learning and not a rule; is it overfitting; what happens if the model is wrong or crashes; why SQLite. Answers are in review.md.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chart" Target="../charts/chart2.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43B"/>
        </a:solidFill>
        <a:effectLst/>
      </p:bgPr>
    </p:bg>
    <p:spTree>
      <p:nvGrpSpPr>
        <p:cNvPr id="1" name=""/>
        <p:cNvGrpSpPr/>
        <p:nvPr/>
      </p:nvGrpSpPr>
      <p:grpSpPr/>
      <p:sp>
        <p:nvSpPr>
          <p:cNvPr id="2" name="TextBox 1"/>
          <p:cNvSpPr txBox="1"/>
          <p:nvPr/>
        </p:nvSpPr>
        <p:spPr>
          <a:xfrm>
            <a:off x="731520" y="548640"/>
            <a:ext cx="10698480" cy="731520"/>
          </a:xfrm>
          <a:prstGeom prst="rect">
            <a:avLst/>
          </a:prstGeom>
          <a:noFill/>
        </p:spPr>
        <p:txBody>
          <a:bodyPr wrap="square" anchor="t" lIns="45720" rIns="45720" tIns="27432" bIns="27432">
            <a:spAutoFit/>
          </a:bodyPr>
          <a:lstStyle/>
          <a:p>
            <a:pPr algn="l">
              <a:spcAft>
                <a:spcPts val="200"/>
              </a:spcAft>
            </a:pPr>
            <a:r>
              <a:rPr sz="1600" b="0" i="0">
                <a:solidFill>
                  <a:srgbClr val="B9D5D9"/>
                </a:solidFill>
                <a:latin typeface="Calibri"/>
              </a:rPr>
              <a:t>School of Computer Science Engineering and Information Systems</a:t>
            </a:r>
          </a:p>
          <a:p>
            <a:pPr algn="l">
              <a:spcAft>
                <a:spcPts val="200"/>
              </a:spcAft>
            </a:pPr>
            <a:r>
              <a:rPr sz="1600" b="0" i="0">
                <a:solidFill>
                  <a:srgbClr val="B9D5D9"/>
                </a:solidFill>
                <a:latin typeface="Calibri"/>
              </a:rPr>
              <a:t>Department of Information Technology</a:t>
            </a:r>
          </a:p>
        </p:txBody>
      </p:sp>
      <p:sp>
        <p:nvSpPr>
          <p:cNvPr id="3" name="TextBox 2"/>
          <p:cNvSpPr txBox="1"/>
          <p:nvPr/>
        </p:nvSpPr>
        <p:spPr>
          <a:xfrm>
            <a:off x="731520" y="1600200"/>
            <a:ext cx="10698480" cy="457200"/>
          </a:xfrm>
          <a:prstGeom prst="rect">
            <a:avLst/>
          </a:prstGeom>
          <a:noFill/>
        </p:spPr>
        <p:txBody>
          <a:bodyPr wrap="square" anchor="t" lIns="45720" rIns="45720" tIns="27432" bIns="27432">
            <a:spAutoFit/>
          </a:bodyPr>
          <a:lstStyle/>
          <a:p>
            <a:pPr algn="l">
              <a:spcAft>
                <a:spcPts val="600"/>
              </a:spcAft>
            </a:pPr>
            <a:r>
              <a:rPr sz="1600" b="1" i="0">
                <a:solidFill>
                  <a:srgbClr val="E8963A"/>
                </a:solidFill>
                <a:latin typeface="Calibri"/>
              </a:rPr>
              <a:t>BITE303P Operating Systems Lab  |  Fall 2026-27  |  Final Project Review</a:t>
            </a:r>
          </a:p>
        </p:txBody>
      </p:sp>
      <p:sp>
        <p:nvSpPr>
          <p:cNvPr id="4" name="Title"/>
          <p:cNvSpPr txBox="1"/>
          <p:nvPr/>
        </p:nvSpPr>
        <p:spPr>
          <a:xfrm>
            <a:off x="731520" y="2240280"/>
            <a:ext cx="10698480" cy="1737360"/>
          </a:xfrm>
          <a:prstGeom prst="rect">
            <a:avLst/>
          </a:prstGeom>
          <a:noFill/>
        </p:spPr>
        <p:txBody>
          <a:bodyPr wrap="square" anchor="t" lIns="45720" rIns="45720" tIns="27432" bIns="27432">
            <a:spAutoFit/>
          </a:bodyPr>
          <a:lstStyle/>
          <a:p>
            <a:pPr algn="l">
              <a:spcAft>
                <a:spcPts val="600"/>
              </a:spcAft>
            </a:pPr>
            <a:r>
              <a:rPr sz="4000" b="1" i="0">
                <a:solidFill>
                  <a:srgbClr val="FFFFFF"/>
                </a:solidFill>
                <a:latin typeface="Cambria"/>
              </a:rPr>
              <a:t>AI-Enhanced Database-Backed Filesystem with Adaptive Storage Optimization</a:t>
            </a:r>
          </a:p>
        </p:txBody>
      </p:sp>
      <p:sp>
        <p:nvSpPr>
          <p:cNvPr id="5" name="Rounded Rectangle 4"/>
          <p:cNvSpPr/>
          <p:nvPr/>
        </p:nvSpPr>
        <p:spPr>
          <a:xfrm>
            <a:off x="731520" y="4343400"/>
            <a:ext cx="2834640" cy="914400"/>
          </a:xfrm>
          <a:prstGeom prst="roundRect">
            <a:avLst>
              <a:gd name="adj" fmla="val 8000"/>
            </a:avLst>
          </a:prstGeom>
          <a:solidFill>
            <a:srgbClr val="1D4A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Harshit Choudhary</a:t>
            </a:r>
          </a:p>
          <a:p>
            <a:pPr algn="ctr"/>
            <a:r>
              <a:rPr sz="1400" b="0">
                <a:solidFill>
                  <a:srgbClr val="B9D5D9"/>
                </a:solidFill>
                <a:latin typeface="Calibri"/>
              </a:rPr>
              <a:t>24BIT0237</a:t>
            </a:r>
          </a:p>
        </p:txBody>
      </p:sp>
      <p:sp>
        <p:nvSpPr>
          <p:cNvPr id="6" name="Rounded Rectangle 5"/>
          <p:cNvSpPr/>
          <p:nvPr/>
        </p:nvSpPr>
        <p:spPr>
          <a:xfrm>
            <a:off x="3794760" y="4343400"/>
            <a:ext cx="2834640" cy="914400"/>
          </a:xfrm>
          <a:prstGeom prst="roundRect">
            <a:avLst>
              <a:gd name="adj" fmla="val 8000"/>
            </a:avLst>
          </a:prstGeom>
          <a:solidFill>
            <a:srgbClr val="1D4A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Shravya Jain</a:t>
            </a:r>
          </a:p>
          <a:p>
            <a:pPr algn="ctr"/>
            <a:r>
              <a:rPr sz="1400" b="0">
                <a:solidFill>
                  <a:srgbClr val="B9D5D9"/>
                </a:solidFill>
                <a:latin typeface="Calibri"/>
              </a:rPr>
              <a:t>24BIT0231</a:t>
            </a:r>
          </a:p>
        </p:txBody>
      </p:sp>
      <p:sp>
        <p:nvSpPr>
          <p:cNvPr id="7" name="Rounded Rectangle 6"/>
          <p:cNvSpPr/>
          <p:nvPr/>
        </p:nvSpPr>
        <p:spPr>
          <a:xfrm>
            <a:off x="6858000" y="4343400"/>
            <a:ext cx="2834640" cy="914400"/>
          </a:xfrm>
          <a:prstGeom prst="roundRect">
            <a:avLst>
              <a:gd name="adj" fmla="val 8000"/>
            </a:avLst>
          </a:prstGeom>
          <a:solidFill>
            <a:srgbClr val="1D4A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Arnav Aditya</a:t>
            </a:r>
          </a:p>
          <a:p>
            <a:pPr algn="ctr"/>
            <a:r>
              <a:rPr sz="1400" b="0">
                <a:solidFill>
                  <a:srgbClr val="B9D5D9"/>
                </a:solidFill>
                <a:latin typeface="Calibri"/>
              </a:rPr>
              <a:t>24BIT0213</a:t>
            </a:r>
          </a:p>
        </p:txBody>
      </p:sp>
      <p:sp>
        <p:nvSpPr>
          <p:cNvPr id="8" name="TextBox 7"/>
          <p:cNvSpPr txBox="1"/>
          <p:nvPr/>
        </p:nvSpPr>
        <p:spPr>
          <a:xfrm>
            <a:off x="731520" y="5669280"/>
            <a:ext cx="10698480" cy="731520"/>
          </a:xfrm>
          <a:prstGeom prst="rect">
            <a:avLst/>
          </a:prstGeom>
          <a:noFill/>
        </p:spPr>
        <p:txBody>
          <a:bodyPr wrap="square" anchor="t" lIns="45720" rIns="45720" tIns="27432" bIns="27432">
            <a:spAutoFit/>
          </a:bodyPr>
          <a:lstStyle/>
          <a:p>
            <a:pPr algn="l">
              <a:spcAft>
                <a:spcPts val="600"/>
              </a:spcAft>
            </a:pPr>
            <a:r>
              <a:rPr sz="1500" b="0" i="0">
                <a:solidFill>
                  <a:srgbClr val="B9D5D9"/>
                </a:solidFill>
                <a:latin typeface="Calibri"/>
              </a:rPr>
              <a:t>Under the guidance of Dr. G.N. Vivekananda, Associate Professor, SCORE, VIT Vellore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Problem statement</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2</a:t>
            </a:r>
          </a:p>
        </p:txBody>
      </p:sp>
      <p:sp>
        <p:nvSpPr>
          <p:cNvPr id="4" name="TextBox 3"/>
          <p:cNvSpPr txBox="1"/>
          <p:nvPr/>
        </p:nvSpPr>
        <p:spPr>
          <a:xfrm>
            <a:off x="548640" y="1463040"/>
            <a:ext cx="5760720" cy="4389120"/>
          </a:xfrm>
          <a:prstGeom prst="rect">
            <a:avLst/>
          </a:prstGeom>
          <a:noFill/>
        </p:spPr>
        <p:txBody>
          <a:bodyPr wrap="square" anchor="t" lIns="45720" rIns="45720" tIns="27432" bIns="27432">
            <a:spAutoFit/>
          </a:bodyPr>
          <a:lstStyle/>
          <a:p>
            <a:pPr algn="l" marL="285750" indent="-285750">
              <a:spcAft>
                <a:spcPts val="1400"/>
              </a:spcAft>
              <a:buChar char="•"/>
            </a:pPr>
            <a:r>
              <a:rPr sz="1800" b="0" i="0">
                <a:solidFill>
                  <a:srgbClr val="1F2A2E"/>
                </a:solidFill>
                <a:latin typeface="Calibri"/>
              </a:rPr>
              <a:t>Disk is slow and memory is fast, so a filesystem keeps recently used blocks in a cache.</a:t>
            </a:r>
          </a:p>
          <a:p>
            <a:pPr algn="l" marL="285750" indent="-285750">
              <a:spcAft>
                <a:spcPts val="1400"/>
              </a:spcAft>
              <a:buChar char="•"/>
            </a:pPr>
            <a:r>
              <a:rPr sz="1800" b="0" i="0">
                <a:solidFill>
                  <a:srgbClr val="1F2A2E"/>
                </a:solidFill>
                <a:latin typeface="Calibri"/>
              </a:rPr>
              <a:t>What to cache, and what to read ahead, is normally decided by fixed rules.</a:t>
            </a:r>
          </a:p>
          <a:p>
            <a:pPr algn="l" marL="285750" indent="-285750">
              <a:spcAft>
                <a:spcPts val="1400"/>
              </a:spcAft>
              <a:buChar char="•"/>
            </a:pPr>
            <a:r>
              <a:rPr sz="1800" b="0" i="0">
                <a:solidFill>
                  <a:srgbClr val="1F2A2E"/>
                </a:solidFill>
                <a:latin typeface="Calibri"/>
              </a:rPr>
              <a:t>A fixed rule suits some workloads and hurts others: it misses easy wins on one and wastes disk reads on another.</a:t>
            </a:r>
          </a:p>
          <a:p>
            <a:pPr algn="l" marL="285750" indent="-285750">
              <a:spcAft>
                <a:spcPts val="1400"/>
              </a:spcAft>
              <a:buChar char="•"/>
            </a:pPr>
            <a:r>
              <a:rPr sz="1800" b="1" i="0">
                <a:solidFill>
                  <a:srgbClr val="0B7285"/>
                </a:solidFill>
                <a:latin typeface="Calibri"/>
              </a:rPr>
              <a:t>Can a filesystem learn the access pattern from its own reads, and adapt its prefetching and its cache memory to it?</a:t>
            </a:r>
          </a:p>
        </p:txBody>
      </p:sp>
      <p:sp>
        <p:nvSpPr>
          <p:cNvPr id="5" name="Rounded Rectangle 4"/>
          <p:cNvSpPr/>
          <p:nvPr/>
        </p:nvSpPr>
        <p:spPr>
          <a:xfrm>
            <a:off x="6766560" y="1554480"/>
            <a:ext cx="4846320" cy="173736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95160" y="1691640"/>
            <a:ext cx="4389120" cy="1645920"/>
          </a:xfrm>
          <a:prstGeom prst="rect">
            <a:avLst/>
          </a:prstGeom>
          <a:noFill/>
        </p:spPr>
        <p:txBody>
          <a:bodyPr wrap="square" anchor="t" lIns="45720" rIns="45720" tIns="27432" bIns="27432">
            <a:spAutoFit/>
          </a:bodyPr>
          <a:lstStyle/>
          <a:p>
            <a:pPr algn="l">
              <a:spcAft>
                <a:spcPts val="600"/>
              </a:spcAft>
            </a:pPr>
            <a:r>
              <a:rPr sz="2000" b="1" i="0">
                <a:solidFill>
                  <a:srgbClr val="5C6B70"/>
                </a:solidFill>
                <a:latin typeface="Calibri"/>
              </a:rPr>
              <a:t>Fixed policy</a:t>
            </a:r>
          </a:p>
          <a:p>
            <a:pPr algn="l">
              <a:spcAft>
                <a:spcPts val="600"/>
              </a:spcAft>
            </a:pPr>
            <a:r>
              <a:rPr sz="1700" b="0" i="0">
                <a:solidFill>
                  <a:srgbClr val="1F2A2E"/>
                </a:solidFill>
                <a:latin typeface="Calibri"/>
              </a:rPr>
              <a:t>The same read-ahead and the same cache split for every program, whatever it is doing.</a:t>
            </a:r>
          </a:p>
        </p:txBody>
      </p:sp>
      <p:sp>
        <p:nvSpPr>
          <p:cNvPr id="7" name="Rounded Rectangle 6"/>
          <p:cNvSpPr/>
          <p:nvPr/>
        </p:nvSpPr>
        <p:spPr>
          <a:xfrm>
            <a:off x="6766560" y="3611880"/>
            <a:ext cx="4846320" cy="173736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0" y="3749039"/>
            <a:ext cx="4389120" cy="1554480"/>
          </a:xfrm>
          <a:prstGeom prst="rect">
            <a:avLst/>
          </a:prstGeom>
          <a:noFill/>
        </p:spPr>
        <p:txBody>
          <a:bodyPr wrap="square" anchor="t" lIns="45720" rIns="45720" tIns="27432" bIns="27432">
            <a:spAutoFit/>
          </a:bodyPr>
          <a:lstStyle/>
          <a:p>
            <a:pPr algn="l">
              <a:spcAft>
                <a:spcPts val="600"/>
              </a:spcAft>
            </a:pPr>
            <a:r>
              <a:rPr sz="2000" b="1" i="0">
                <a:solidFill>
                  <a:srgbClr val="0B7285"/>
                </a:solidFill>
                <a:latin typeface="Calibri"/>
              </a:rPr>
              <a:t>Learned policy</a:t>
            </a:r>
          </a:p>
          <a:p>
            <a:pPr algn="l">
              <a:spcAft>
                <a:spcPts val="600"/>
              </a:spcAft>
            </a:pPr>
            <a:r>
              <a:rPr sz="1700" b="0" i="0">
                <a:solidFill>
                  <a:srgbClr val="1F2A2E"/>
                </a:solidFill>
                <a:latin typeface="Calibri"/>
              </a:rPr>
              <a:t>Watches the reads, predicts the next blocks, and stays quiet when there is no pattern.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Objectives</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3</a:t>
            </a:r>
          </a:p>
        </p:txBody>
      </p:sp>
      <p:sp>
        <p:nvSpPr>
          <p:cNvPr id="4" name="Rounded Rectangle 3"/>
          <p:cNvSpPr/>
          <p:nvPr/>
        </p:nvSpPr>
        <p:spPr>
          <a:xfrm>
            <a:off x="548640" y="15087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38528"/>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1</a:t>
            </a:r>
          </a:p>
        </p:txBody>
      </p:sp>
      <p:sp>
        <p:nvSpPr>
          <p:cNvPr id="6" name="TextBox 5"/>
          <p:cNvSpPr txBox="1"/>
          <p:nvPr/>
        </p:nvSpPr>
        <p:spPr>
          <a:xfrm>
            <a:off x="1463040" y="1618488"/>
            <a:ext cx="4389120" cy="1152144"/>
          </a:xfrm>
          <a:prstGeom prst="rect">
            <a:avLst/>
          </a:prstGeom>
          <a:noFill/>
        </p:spPr>
        <p:txBody>
          <a:bodyPr wrap="square" anchor="ctr" lIns="45720" rIns="45720" tIns="27432" bIns="27432">
            <a:spAutoFit/>
          </a:bodyPr>
          <a:lstStyle/>
          <a:p>
            <a:pPr algn="l">
              <a:spcAft>
                <a:spcPts val="600"/>
              </a:spcAft>
            </a:pPr>
            <a:r>
              <a:rPr sz="1600" b="0" i="0">
                <a:solidFill>
                  <a:srgbClr val="1F2A2E"/>
                </a:solidFill>
                <a:latin typeface="Calibri"/>
              </a:rPr>
              <a:t>Build a Linux user-space filesystem (FUSE) with block storage and SQLite metadata</a:t>
            </a:r>
          </a:p>
        </p:txBody>
      </p:sp>
      <p:sp>
        <p:nvSpPr>
          <p:cNvPr id="7" name="Rounded Rectangle 6"/>
          <p:cNvSpPr/>
          <p:nvPr/>
        </p:nvSpPr>
        <p:spPr>
          <a:xfrm>
            <a:off x="6217920" y="15087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46520" y="1938528"/>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2</a:t>
            </a:r>
          </a:p>
        </p:txBody>
      </p:sp>
      <p:sp>
        <p:nvSpPr>
          <p:cNvPr id="9" name="TextBox 8"/>
          <p:cNvSpPr txBox="1"/>
          <p:nvPr/>
        </p:nvSpPr>
        <p:spPr>
          <a:xfrm>
            <a:off x="7132320" y="1618488"/>
            <a:ext cx="4389120" cy="1152144"/>
          </a:xfrm>
          <a:prstGeom prst="rect">
            <a:avLst/>
          </a:prstGeom>
          <a:noFill/>
        </p:spPr>
        <p:txBody>
          <a:bodyPr wrap="square" anchor="ctr" lIns="45720" rIns="45720" tIns="27432" bIns="27432">
            <a:spAutoFit/>
          </a:bodyPr>
          <a:lstStyle/>
          <a:p>
            <a:pPr algn="l">
              <a:spcAft>
                <a:spcPts val="600"/>
              </a:spcAft>
            </a:pPr>
            <a:r>
              <a:rPr sz="1600" b="0" i="0">
                <a:solidFill>
                  <a:srgbClr val="1F2A2E"/>
                </a:solidFill>
                <a:latin typeface="Calibri"/>
              </a:rPr>
              <a:t>Record every block read and write as an access log</a:t>
            </a:r>
          </a:p>
        </p:txBody>
      </p:sp>
      <p:sp>
        <p:nvSpPr>
          <p:cNvPr id="10" name="Rounded Rectangle 9"/>
          <p:cNvSpPr/>
          <p:nvPr/>
        </p:nvSpPr>
        <p:spPr>
          <a:xfrm>
            <a:off x="548640" y="31089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538728"/>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3</a:t>
            </a:r>
          </a:p>
        </p:txBody>
      </p:sp>
      <p:sp>
        <p:nvSpPr>
          <p:cNvPr id="12" name="TextBox 11"/>
          <p:cNvSpPr txBox="1"/>
          <p:nvPr/>
        </p:nvSpPr>
        <p:spPr>
          <a:xfrm>
            <a:off x="1463040" y="3218688"/>
            <a:ext cx="4389120" cy="1152144"/>
          </a:xfrm>
          <a:prstGeom prst="rect">
            <a:avLst/>
          </a:prstGeom>
          <a:noFill/>
        </p:spPr>
        <p:txBody>
          <a:bodyPr wrap="square" anchor="ctr" lIns="45720" rIns="45720" tIns="27432" bIns="27432">
            <a:spAutoFit/>
          </a:bodyPr>
          <a:lstStyle/>
          <a:p>
            <a:pPr algn="l">
              <a:spcAft>
                <a:spcPts val="600"/>
              </a:spcAft>
            </a:pPr>
            <a:r>
              <a:rPr sz="1600" b="0" i="0">
                <a:solidFill>
                  <a:srgbClr val="1F2A2E"/>
                </a:solidFill>
                <a:latin typeface="Calibri"/>
              </a:rPr>
              <a:t>Predict the next block reads with a lightweight machine-learning model</a:t>
            </a:r>
          </a:p>
        </p:txBody>
      </p:sp>
      <p:sp>
        <p:nvSpPr>
          <p:cNvPr id="13" name="Rounded Rectangle 12"/>
          <p:cNvSpPr/>
          <p:nvPr/>
        </p:nvSpPr>
        <p:spPr>
          <a:xfrm>
            <a:off x="6217920" y="31089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6520" y="3538728"/>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4</a:t>
            </a:r>
          </a:p>
        </p:txBody>
      </p:sp>
      <p:sp>
        <p:nvSpPr>
          <p:cNvPr id="15" name="TextBox 14"/>
          <p:cNvSpPr txBox="1"/>
          <p:nvPr/>
        </p:nvSpPr>
        <p:spPr>
          <a:xfrm>
            <a:off x="7132320" y="3218688"/>
            <a:ext cx="4389120" cy="1152144"/>
          </a:xfrm>
          <a:prstGeom prst="rect">
            <a:avLst/>
          </a:prstGeom>
          <a:noFill/>
        </p:spPr>
        <p:txBody>
          <a:bodyPr wrap="square" anchor="ctr" lIns="45720" rIns="45720" tIns="27432" bIns="27432">
            <a:spAutoFit/>
          </a:bodyPr>
          <a:lstStyle/>
          <a:p>
            <a:pPr algn="l">
              <a:spcAft>
                <a:spcPts val="600"/>
              </a:spcAft>
            </a:pPr>
            <a:r>
              <a:rPr sz="1600" b="0" i="0">
                <a:solidFill>
                  <a:srgbClr val="1F2A2E"/>
                </a:solidFill>
                <a:latin typeface="Calibri"/>
              </a:rPr>
              <a:t>Use feedback: train again on what was really read, and on measured read times</a:t>
            </a:r>
          </a:p>
        </p:txBody>
      </p:sp>
      <p:sp>
        <p:nvSpPr>
          <p:cNvPr id="16" name="Rounded Rectangle 15"/>
          <p:cNvSpPr/>
          <p:nvPr/>
        </p:nvSpPr>
        <p:spPr>
          <a:xfrm>
            <a:off x="548640" y="47091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5138928"/>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5</a:t>
            </a:r>
          </a:p>
        </p:txBody>
      </p:sp>
      <p:sp>
        <p:nvSpPr>
          <p:cNvPr id="18" name="TextBox 17"/>
          <p:cNvSpPr txBox="1"/>
          <p:nvPr/>
        </p:nvSpPr>
        <p:spPr>
          <a:xfrm>
            <a:off x="1463040" y="4818888"/>
            <a:ext cx="4389120" cy="1152144"/>
          </a:xfrm>
          <a:prstGeom prst="rect">
            <a:avLst/>
          </a:prstGeom>
          <a:noFill/>
        </p:spPr>
        <p:txBody>
          <a:bodyPr wrap="square" anchor="ctr" lIns="45720" rIns="45720" tIns="27432" bIns="27432">
            <a:spAutoFit/>
          </a:bodyPr>
          <a:lstStyle/>
          <a:p>
            <a:pPr algn="l">
              <a:spcAft>
                <a:spcPts val="600"/>
              </a:spcAft>
            </a:pPr>
            <a:r>
              <a:rPr sz="1600" b="0" i="0">
                <a:solidFill>
                  <a:srgbClr val="1F2A2E"/>
                </a:solidFill>
                <a:latin typeface="Calibri"/>
              </a:rPr>
              <a:t>Adapt the memory given to the block cache and the metadata cache from measured cost</a:t>
            </a:r>
          </a:p>
        </p:txBody>
      </p:sp>
      <p:sp>
        <p:nvSpPr>
          <p:cNvPr id="19" name="Rounded Rectangle 18"/>
          <p:cNvSpPr/>
          <p:nvPr/>
        </p:nvSpPr>
        <p:spPr>
          <a:xfrm>
            <a:off x="6217920" y="47091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5138928"/>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6</a:t>
            </a:r>
          </a:p>
        </p:txBody>
      </p:sp>
      <p:sp>
        <p:nvSpPr>
          <p:cNvPr id="21" name="TextBox 20"/>
          <p:cNvSpPr txBox="1"/>
          <p:nvPr/>
        </p:nvSpPr>
        <p:spPr>
          <a:xfrm>
            <a:off x="7132320" y="4818888"/>
            <a:ext cx="4389120" cy="1152144"/>
          </a:xfrm>
          <a:prstGeom prst="rect">
            <a:avLst/>
          </a:prstGeom>
          <a:noFill/>
        </p:spPr>
        <p:txBody>
          <a:bodyPr wrap="square" anchor="ctr" lIns="45720" rIns="45720" tIns="27432" bIns="27432">
            <a:spAutoFit/>
          </a:bodyPr>
          <a:lstStyle/>
          <a:p>
            <a:pPr algn="l">
              <a:spcAft>
                <a:spcPts val="600"/>
              </a:spcAft>
            </a:pPr>
            <a:r>
              <a:rPr sz="1600" b="0" i="0">
                <a:solidFill>
                  <a:srgbClr val="1F2A2E"/>
                </a:solidFill>
                <a:latin typeface="Calibri"/>
              </a:rPr>
              <a:t>Compare against two baselines on four workloads, and report only what was measured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Operating system concepts used</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4</a:t>
            </a:r>
          </a:p>
        </p:txBody>
      </p:sp>
      <p:sp>
        <p:nvSpPr>
          <p:cNvPr id="4" name="Rounded Rectangle 3"/>
          <p:cNvSpPr/>
          <p:nvPr/>
        </p:nvSpPr>
        <p:spPr>
          <a:xfrm>
            <a:off x="548640" y="1554480"/>
            <a:ext cx="3520440" cy="20574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3063240" cy="1737360"/>
          </a:xfrm>
          <a:prstGeom prst="rect">
            <a:avLst/>
          </a:prstGeom>
          <a:noFill/>
        </p:spPr>
        <p:txBody>
          <a:bodyPr wrap="square" anchor="t" lIns="45720" rIns="45720" tIns="27432" bIns="27432">
            <a:spAutoFit/>
          </a:bodyPr>
          <a:lstStyle/>
          <a:p>
            <a:pPr algn="l">
              <a:spcAft>
                <a:spcPts val="800"/>
              </a:spcAft>
            </a:pPr>
            <a:r>
              <a:rPr sz="1900" b="1" i="0">
                <a:solidFill>
                  <a:srgbClr val="0B7285"/>
                </a:solidFill>
                <a:latin typeface="Calibri"/>
              </a:rPr>
              <a:t>File systems</a:t>
            </a:r>
          </a:p>
          <a:p>
            <a:pPr algn="l">
              <a:spcAft>
                <a:spcPts val="600"/>
              </a:spcAft>
            </a:pPr>
            <a:r>
              <a:rPr sz="1600" b="0" i="0">
                <a:solidFill>
                  <a:srgbClr val="1F2A2E"/>
                </a:solidFill>
                <a:latin typeface="Calibri"/>
              </a:rPr>
              <a:t>Blocks, inodes, directories, block allocation, a free list, holes</a:t>
            </a:r>
          </a:p>
        </p:txBody>
      </p:sp>
      <p:sp>
        <p:nvSpPr>
          <p:cNvPr id="6" name="Rounded Rectangle 5"/>
          <p:cNvSpPr/>
          <p:nvPr/>
        </p:nvSpPr>
        <p:spPr>
          <a:xfrm>
            <a:off x="4297679" y="1554480"/>
            <a:ext cx="3520440" cy="20574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79" y="1737360"/>
            <a:ext cx="3063240" cy="1737360"/>
          </a:xfrm>
          <a:prstGeom prst="rect">
            <a:avLst/>
          </a:prstGeom>
          <a:noFill/>
        </p:spPr>
        <p:txBody>
          <a:bodyPr wrap="square" anchor="t" lIns="45720" rIns="45720" tIns="27432" bIns="27432">
            <a:spAutoFit/>
          </a:bodyPr>
          <a:lstStyle/>
          <a:p>
            <a:pPr algn="l">
              <a:spcAft>
                <a:spcPts val="800"/>
              </a:spcAft>
            </a:pPr>
            <a:r>
              <a:rPr sz="1900" b="1" i="0">
                <a:solidFill>
                  <a:srgbClr val="0B7285"/>
                </a:solidFill>
                <a:latin typeface="Calibri"/>
              </a:rPr>
              <a:t>Linux system programming</a:t>
            </a:r>
          </a:p>
          <a:p>
            <a:pPr algn="l">
              <a:spcAft>
                <a:spcPts val="600"/>
              </a:spcAft>
            </a:pPr>
            <a:r>
              <a:rPr sz="1600" b="0" i="0">
                <a:solidFill>
                  <a:srgbClr val="1F2A2E"/>
                </a:solidFill>
                <a:latin typeface="Calibri"/>
              </a:rPr>
              <a:t>FUSE, pread and pwrite, O_DIRECT, fork and exec, poll, signals</a:t>
            </a:r>
          </a:p>
        </p:txBody>
      </p:sp>
      <p:sp>
        <p:nvSpPr>
          <p:cNvPr id="8" name="Rounded Rectangle 7"/>
          <p:cNvSpPr/>
          <p:nvPr/>
        </p:nvSpPr>
        <p:spPr>
          <a:xfrm>
            <a:off x="8046719" y="1554480"/>
            <a:ext cx="3520440" cy="20574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19" y="1737360"/>
            <a:ext cx="3063240" cy="1737360"/>
          </a:xfrm>
          <a:prstGeom prst="rect">
            <a:avLst/>
          </a:prstGeom>
          <a:noFill/>
        </p:spPr>
        <p:txBody>
          <a:bodyPr wrap="square" anchor="t" lIns="45720" rIns="45720" tIns="27432" bIns="27432">
            <a:spAutoFit/>
          </a:bodyPr>
          <a:lstStyle/>
          <a:p>
            <a:pPr algn="l">
              <a:spcAft>
                <a:spcPts val="800"/>
              </a:spcAft>
            </a:pPr>
            <a:r>
              <a:rPr sz="1900" b="1" i="0">
                <a:solidFill>
                  <a:srgbClr val="0B7285"/>
                </a:solidFill>
                <a:latin typeface="Calibri"/>
              </a:rPr>
              <a:t>Inter-process communication</a:t>
            </a:r>
          </a:p>
          <a:p>
            <a:pPr algn="l">
              <a:spcAft>
                <a:spcPts val="600"/>
              </a:spcAft>
            </a:pPr>
            <a:r>
              <a:rPr sz="1600" b="0" i="0">
                <a:solidFill>
                  <a:srgbClr val="1F2A2E"/>
                </a:solidFill>
                <a:latin typeface="Calibri"/>
              </a:rPr>
              <a:t>The filesystem and the Python model talk over two pipes</a:t>
            </a:r>
          </a:p>
        </p:txBody>
      </p:sp>
      <p:sp>
        <p:nvSpPr>
          <p:cNvPr id="10" name="Rounded Rectangle 9"/>
          <p:cNvSpPr/>
          <p:nvPr/>
        </p:nvSpPr>
        <p:spPr>
          <a:xfrm>
            <a:off x="548640" y="3886200"/>
            <a:ext cx="3520440" cy="20574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069080"/>
            <a:ext cx="3063240" cy="1737360"/>
          </a:xfrm>
          <a:prstGeom prst="rect">
            <a:avLst/>
          </a:prstGeom>
          <a:noFill/>
        </p:spPr>
        <p:txBody>
          <a:bodyPr wrap="square" anchor="t" lIns="45720" rIns="45720" tIns="27432" bIns="27432">
            <a:spAutoFit/>
          </a:bodyPr>
          <a:lstStyle/>
          <a:p>
            <a:pPr algn="l">
              <a:spcAft>
                <a:spcPts val="800"/>
              </a:spcAft>
            </a:pPr>
            <a:r>
              <a:rPr sz="1900" b="1" i="0">
                <a:solidFill>
                  <a:srgbClr val="0B7285"/>
                </a:solidFill>
                <a:latin typeface="Calibri"/>
              </a:rPr>
              <a:t>Threads and synchronization</a:t>
            </a:r>
          </a:p>
          <a:p>
            <a:pPr algn="l">
              <a:spcAft>
                <a:spcPts val="600"/>
              </a:spcAft>
            </a:pPr>
            <a:r>
              <a:rPr sz="1600" b="0" i="0">
                <a:solidFill>
                  <a:srgbClr val="1F2A2E"/>
                </a:solidFill>
                <a:latin typeface="Calibri"/>
              </a:rPr>
              <a:t>Four prefetch threads share the cache, guarded by a mutex and condition variables</a:t>
            </a:r>
          </a:p>
        </p:txBody>
      </p:sp>
      <p:sp>
        <p:nvSpPr>
          <p:cNvPr id="12" name="Rounded Rectangle 11"/>
          <p:cNvSpPr/>
          <p:nvPr/>
        </p:nvSpPr>
        <p:spPr>
          <a:xfrm>
            <a:off x="4297679" y="3886200"/>
            <a:ext cx="3520440" cy="20574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79" y="4069080"/>
            <a:ext cx="3063240" cy="1737360"/>
          </a:xfrm>
          <a:prstGeom prst="rect">
            <a:avLst/>
          </a:prstGeom>
          <a:noFill/>
        </p:spPr>
        <p:txBody>
          <a:bodyPr wrap="square" anchor="t" lIns="45720" rIns="45720" tIns="27432" bIns="27432">
            <a:spAutoFit/>
          </a:bodyPr>
          <a:lstStyle/>
          <a:p>
            <a:pPr algn="l">
              <a:spcAft>
                <a:spcPts val="800"/>
              </a:spcAft>
            </a:pPr>
            <a:r>
              <a:rPr sz="1900" b="1" i="0">
                <a:solidFill>
                  <a:srgbClr val="0B7285"/>
                </a:solidFill>
                <a:latin typeface="Calibri"/>
              </a:rPr>
              <a:t>Memory management</a:t>
            </a:r>
          </a:p>
          <a:p>
            <a:pPr algn="l">
              <a:spcAft>
                <a:spcPts val="600"/>
              </a:spcAft>
            </a:pPr>
            <a:r>
              <a:rPr sz="1600" b="0" i="0">
                <a:solidFill>
                  <a:srgbClr val="1F2A2E"/>
                </a:solidFill>
                <a:latin typeface="Calibri"/>
              </a:rPr>
              <a:t>An LRU cache inside a fixed memory budget, the same idea as page replacement</a:t>
            </a:r>
          </a:p>
        </p:txBody>
      </p:sp>
      <p:sp>
        <p:nvSpPr>
          <p:cNvPr id="14" name="Rounded Rectangle 13"/>
          <p:cNvSpPr/>
          <p:nvPr/>
        </p:nvSpPr>
        <p:spPr>
          <a:xfrm>
            <a:off x="8046719" y="3886200"/>
            <a:ext cx="3520440" cy="20574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4069080"/>
            <a:ext cx="3063240" cy="1737360"/>
          </a:xfrm>
          <a:prstGeom prst="rect">
            <a:avLst/>
          </a:prstGeom>
          <a:noFill/>
        </p:spPr>
        <p:txBody>
          <a:bodyPr wrap="square" anchor="t" lIns="45720" rIns="45720" tIns="27432" bIns="27432">
            <a:spAutoFit/>
          </a:bodyPr>
          <a:lstStyle/>
          <a:p>
            <a:pPr algn="l">
              <a:spcAft>
                <a:spcPts val="800"/>
              </a:spcAft>
            </a:pPr>
            <a:r>
              <a:rPr sz="1900" b="1" i="0">
                <a:solidFill>
                  <a:srgbClr val="0B7285"/>
                </a:solidFill>
                <a:latin typeface="Calibri"/>
              </a:rPr>
              <a:t>Performance analysis</a:t>
            </a:r>
          </a:p>
          <a:p>
            <a:pPr algn="l">
              <a:spcAft>
                <a:spcPts val="600"/>
              </a:spcAft>
            </a:pPr>
            <a:r>
              <a:rPr sz="1600" b="0" i="0">
                <a:solidFill>
                  <a:srgbClr val="1F2A2E"/>
                </a:solidFill>
                <a:latin typeface="Calibri"/>
              </a:rPr>
              <a:t>A workload generator and 72 measured benchmark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System architecture</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5</a:t>
            </a:r>
          </a:p>
        </p:txBody>
      </p:sp>
      <p:sp>
        <p:nvSpPr>
          <p:cNvPr id="4" name="Rounded Rectangle 3"/>
          <p:cNvSpPr/>
          <p:nvPr/>
        </p:nvSpPr>
        <p:spPr>
          <a:xfrm>
            <a:off x="822960" y="1463040"/>
            <a:ext cx="6035040" cy="6858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F2A2E"/>
                </a:solidFill>
                <a:latin typeface="Calibri"/>
              </a:rPr>
              <a:t>Ordinary programs</a:t>
            </a:r>
          </a:p>
          <a:p>
            <a:pPr algn="ctr"/>
            <a:r>
              <a:rPr sz="1300" b="0">
                <a:solidFill>
                  <a:srgbClr val="5C6B70"/>
                </a:solidFill>
                <a:latin typeface="Calibri"/>
              </a:rPr>
              <a:t>cp, cat, ls, editors</a:t>
            </a:r>
          </a:p>
        </p:txBody>
      </p:sp>
      <p:sp>
        <p:nvSpPr>
          <p:cNvPr id="5" name="Rounded Rectangle 4"/>
          <p:cNvSpPr/>
          <p:nvPr/>
        </p:nvSpPr>
        <p:spPr>
          <a:xfrm>
            <a:off x="822960" y="2377440"/>
            <a:ext cx="6035040" cy="6858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F2A2E"/>
                </a:solidFill>
                <a:latin typeface="Calibri"/>
              </a:rPr>
              <a:t>FUSE adapter  (src/main.cpp)</a:t>
            </a:r>
          </a:p>
          <a:p>
            <a:pPr algn="ctr"/>
            <a:r>
              <a:rPr sz="1300" b="0">
                <a:solidFill>
                  <a:srgbClr val="5C6B70"/>
                </a:solidFill>
                <a:latin typeface="Calibri"/>
              </a:rPr>
              <a:t>one callback per file operation</a:t>
            </a:r>
          </a:p>
        </p:txBody>
      </p:sp>
      <p:sp>
        <p:nvSpPr>
          <p:cNvPr id="6" name="Rounded Rectangle 5"/>
          <p:cNvSpPr/>
          <p:nvPr/>
        </p:nvSpPr>
        <p:spPr>
          <a:xfrm>
            <a:off x="822960" y="3291840"/>
            <a:ext cx="6035040" cy="822960"/>
          </a:xfrm>
          <a:prstGeom prst="roundRect">
            <a:avLst>
              <a:gd name="adj" fmla="val 8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Filesystem  (src/filesystem.cpp)</a:t>
            </a:r>
          </a:p>
          <a:p>
            <a:pPr algn="ctr"/>
            <a:r>
              <a:rPr sz="1300" b="0">
                <a:solidFill>
                  <a:srgbClr val="FFFFFF"/>
                </a:solidFill>
                <a:latin typeface="Calibri"/>
              </a:rPr>
              <a:t>files, directories, block allocation, the three versions</a:t>
            </a:r>
          </a:p>
        </p:txBody>
      </p:sp>
      <p:sp>
        <p:nvSpPr>
          <p:cNvPr id="7" name="Rounded Rectangle 6"/>
          <p:cNvSpPr/>
          <p:nvPr/>
        </p:nvSpPr>
        <p:spPr>
          <a:xfrm>
            <a:off x="822960" y="4389120"/>
            <a:ext cx="6035040" cy="6858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F2A2E"/>
                </a:solidFill>
                <a:latin typeface="Calibri"/>
              </a:rPr>
              <a:t>Block cache  (src/block_cache.cpp)</a:t>
            </a:r>
          </a:p>
          <a:p>
            <a:pPr algn="ctr"/>
            <a:r>
              <a:rPr sz="1300" b="0">
                <a:solidFill>
                  <a:srgbClr val="5C6B70"/>
                </a:solidFill>
                <a:latin typeface="Calibri"/>
              </a:rPr>
              <a:t>LRU cache, four prefetch threads</a:t>
            </a:r>
          </a:p>
        </p:txBody>
      </p:sp>
      <p:sp>
        <p:nvSpPr>
          <p:cNvPr id="8" name="Rounded Rectangle 7"/>
          <p:cNvSpPr/>
          <p:nvPr/>
        </p:nvSpPr>
        <p:spPr>
          <a:xfrm>
            <a:off x="822960" y="5303520"/>
            <a:ext cx="6035040" cy="6858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F2A2E"/>
                </a:solidFill>
                <a:latin typeface="Calibri"/>
              </a:rPr>
              <a:t>Block storage  (src/block_storage.cpp)</a:t>
            </a:r>
          </a:p>
          <a:p>
            <a:pPr algn="ctr"/>
            <a:r>
              <a:rPr sz="1300" b="0">
                <a:solidFill>
                  <a:srgbClr val="5C6B70"/>
                </a:solidFill>
                <a:latin typeface="Calibri"/>
              </a:rPr>
              <a:t>one image file of 4,096-byte blocks</a:t>
            </a:r>
          </a:p>
        </p:txBody>
      </p:sp>
      <p:cxnSp>
        <p:nvCxnSpPr>
          <p:cNvPr id="9" name="Connector 8"/>
          <p:cNvCxnSpPr/>
          <p:nvPr/>
        </p:nvCxnSpPr>
        <p:spPr>
          <a:xfrm>
            <a:off x="3840480" y="2148840"/>
            <a:ext cx="0" cy="22860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0480" y="3063240"/>
            <a:ext cx="0" cy="22860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840480" y="4114800"/>
            <a:ext cx="0" cy="27432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840480" y="5074920"/>
            <a:ext cx="0" cy="22860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2377440"/>
            <a:ext cx="3840480" cy="1234440"/>
          </a:xfrm>
          <a:prstGeom prst="roundRect">
            <a:avLst>
              <a:gd name="adj" fmla="val 8000"/>
            </a:avLst>
          </a:prstGeom>
          <a:solidFill>
            <a:srgbClr val="FBF1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F2A2E"/>
                </a:solidFill>
                <a:latin typeface="Calibri"/>
              </a:rPr>
              <a:t>SQLite database</a:t>
            </a:r>
          </a:p>
          <a:p>
            <a:pPr algn="ctr"/>
            <a:r>
              <a:rPr sz="1300" b="0">
                <a:solidFill>
                  <a:srgbClr val="5C6B70"/>
                </a:solidFill>
                <a:latin typeface="Calibri"/>
              </a:rPr>
              <a:t>inodes, block mappings, free blocks,</a:t>
            </a:r>
          </a:p>
          <a:p>
            <a:pPr algn="ctr"/>
            <a:r>
              <a:rPr sz="1300" b="0">
                <a:solidFill>
                  <a:srgbClr val="5C6B70"/>
                </a:solidFill>
                <a:latin typeface="Calibri"/>
              </a:rPr>
              <a:t>access log, policy log</a:t>
            </a:r>
          </a:p>
        </p:txBody>
      </p:sp>
      <p:sp>
        <p:nvSpPr>
          <p:cNvPr id="14" name="Rounded Rectangle 13"/>
          <p:cNvSpPr/>
          <p:nvPr/>
        </p:nvSpPr>
        <p:spPr>
          <a:xfrm>
            <a:off x="7772400" y="3977639"/>
            <a:ext cx="3840480" cy="1463040"/>
          </a:xfrm>
          <a:prstGeom prst="roundRect">
            <a:avLst>
              <a:gd name="adj" fmla="val 8000"/>
            </a:avLst>
          </a:prstGeom>
          <a:solidFill>
            <a:srgbClr val="FBF1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F2A2E"/>
                </a:solidFill>
                <a:latin typeface="Calibri"/>
              </a:rPr>
              <a:t>Machine-learning models</a:t>
            </a:r>
          </a:p>
          <a:p>
            <a:pPr algn="ctr"/>
            <a:r>
              <a:rPr sz="1300" b="0">
                <a:solidFill>
                  <a:srgbClr val="5C6B70"/>
                </a:solidFill>
                <a:latin typeface="Calibri"/>
              </a:rPr>
              <a:t>python/model.py, scikit-learn</a:t>
            </a:r>
          </a:p>
          <a:p>
            <a:pPr algn="ctr"/>
            <a:r>
              <a:rPr sz="1300" b="0">
                <a:solidFill>
                  <a:srgbClr val="5C6B70"/>
                </a:solidFill>
                <a:latin typeface="Calibri"/>
              </a:rPr>
              <a:t>reached through two pipes</a:t>
            </a:r>
          </a:p>
          <a:p>
            <a:pPr algn="ctr"/>
            <a:r>
              <a:rPr sz="1300" b="0">
                <a:solidFill>
                  <a:srgbClr val="5C6B70"/>
                </a:solidFill>
                <a:latin typeface="Calibri"/>
              </a:rPr>
              <a:t>(src/model_client.cpp)</a:t>
            </a:r>
          </a:p>
        </p:txBody>
      </p:sp>
      <p:cxnSp>
        <p:nvCxnSpPr>
          <p:cNvPr id="15" name="Connector 14"/>
          <p:cNvCxnSpPr/>
          <p:nvPr/>
        </p:nvCxnSpPr>
        <p:spPr>
          <a:xfrm flipV="1">
            <a:off x="6858000" y="3108960"/>
            <a:ext cx="914400" cy="45720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3840480"/>
            <a:ext cx="914400" cy="73152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6126480"/>
            <a:ext cx="10789920" cy="365760"/>
          </a:xfrm>
          <a:prstGeom prst="rect">
            <a:avLst/>
          </a:prstGeom>
          <a:noFill/>
        </p:spPr>
        <p:txBody>
          <a:bodyPr wrap="square" anchor="t" lIns="45720" rIns="45720" tIns="27432" bIns="27432">
            <a:spAutoFit/>
          </a:bodyPr>
          <a:lstStyle/>
          <a:p>
            <a:pPr algn="l">
              <a:spcAft>
                <a:spcPts val="600"/>
              </a:spcAft>
            </a:pPr>
            <a:r>
              <a:rPr sz="1300" b="0" i="0">
                <a:solidFill>
                  <a:srgbClr val="5C6B70"/>
                </a:solidFill>
                <a:latin typeface="Calibri"/>
              </a:rPr>
              <a:t>Kernel FUSE sits between the programs and the adapter. Version C is the only version that starts the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Storage and metadata</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6</a:t>
            </a:r>
          </a:p>
        </p:txBody>
      </p:sp>
      <p:sp>
        <p:nvSpPr>
          <p:cNvPr id="4" name="TextBox 3"/>
          <p:cNvSpPr txBox="1"/>
          <p:nvPr/>
        </p:nvSpPr>
        <p:spPr>
          <a:xfrm>
            <a:off x="548640" y="1463040"/>
            <a:ext cx="4023360" cy="4480560"/>
          </a:xfrm>
          <a:prstGeom prst="rect">
            <a:avLst/>
          </a:prstGeom>
          <a:noFill/>
        </p:spPr>
        <p:txBody>
          <a:bodyPr wrap="square" anchor="t" lIns="45720" rIns="45720" tIns="27432" bIns="27432">
            <a:spAutoFit/>
          </a:bodyPr>
          <a:lstStyle/>
          <a:p>
            <a:pPr algn="l">
              <a:spcAft>
                <a:spcPts val="1000"/>
              </a:spcAft>
            </a:pPr>
            <a:r>
              <a:rPr sz="2000" b="1" i="0">
                <a:solidFill>
                  <a:srgbClr val="0B7285"/>
                </a:solidFill>
                <a:latin typeface="Calibri"/>
              </a:rPr>
              <a:t>File data</a:t>
            </a:r>
          </a:p>
          <a:p>
            <a:pPr algn="l">
              <a:spcAft>
                <a:spcPts val="1000"/>
              </a:spcAft>
            </a:pPr>
            <a:r>
              <a:rPr sz="1600" b="0" i="0">
                <a:solidFill>
                  <a:srgbClr val="1F2A2E"/>
                </a:solidFill>
                <a:latin typeface="Calibri"/>
              </a:rPr>
              <a:t>One preallocated image file, cut into 4,096-byte blocks and addressed by block number.</a:t>
            </a:r>
          </a:p>
          <a:p>
            <a:pPr algn="l">
              <a:spcAft>
                <a:spcPts val="1000"/>
              </a:spcAft>
            </a:pPr>
            <a:r>
              <a:rPr sz="2000" b="1" i="0">
                <a:solidFill>
                  <a:srgbClr val="0B7285"/>
                </a:solidFill>
                <a:latin typeface="Calibri"/>
              </a:rPr>
              <a:t>Metadata</a:t>
            </a:r>
          </a:p>
          <a:p>
            <a:pPr algn="l">
              <a:spcAft>
                <a:spcPts val="1000"/>
              </a:spcAft>
            </a:pPr>
            <a:r>
              <a:rPr sz="1600" b="0" i="0">
                <a:solidFill>
                  <a:srgbClr val="1F2A2E"/>
                </a:solidFill>
                <a:latin typeface="Calibri"/>
              </a:rPr>
              <a:t>SQLite. Each write is one transaction, so a write that fails (for example a full disk) leaves the metadata unchanged.</a:t>
            </a:r>
          </a:p>
          <a:p>
            <a:pPr algn="l">
              <a:spcAft>
                <a:spcPts val="1000"/>
              </a:spcAft>
            </a:pPr>
            <a:r>
              <a:rPr sz="2000" b="1" i="0">
                <a:solidFill>
                  <a:srgbClr val="0B7285"/>
                </a:solidFill>
                <a:latin typeface="Calibri"/>
              </a:rPr>
              <a:t>Access monitoring</a:t>
            </a:r>
          </a:p>
          <a:p>
            <a:pPr algn="l">
              <a:spcAft>
                <a:spcPts val="1000"/>
              </a:spcAft>
            </a:pPr>
            <a:r>
              <a:rPr sz="1600" b="0" i="0">
                <a:solidFill>
                  <a:srgbClr val="1F2A2E"/>
                </a:solidFill>
                <a:latin typeface="Calibri"/>
              </a:rPr>
              <a:t>Every block read and write is logged. The log is the model's training data.</a:t>
            </a:r>
          </a:p>
        </p:txBody>
      </p:sp>
      <p:graphicFrame>
        <p:nvGraphicFramePr>
          <p:cNvPr id="5" name="Table 4"/>
          <p:cNvGraphicFramePr>
            <a:graphicFrameLocks noGrp="1"/>
          </p:cNvGraphicFramePr>
          <p:nvPr/>
        </p:nvGraphicFramePr>
        <p:xfrm>
          <a:off x="4937760" y="1600200"/>
          <a:ext cx="6675120" cy="3950208"/>
        </p:xfrm>
        <a:graphic>
          <a:graphicData uri="http://schemas.openxmlformats.org/drawingml/2006/table">
            <a:tbl>
              <a:tblPr firstRow="1" bandRow="1">
                <a:tableStyleId>{5C22544A-7EE6-4342-B048-85BDC9FD1C3A}</a:tableStyleId>
              </a:tblPr>
              <a:tblGrid>
                <a:gridCol w="1828800"/>
                <a:gridCol w="4846320"/>
              </a:tblGrid>
              <a:tr h="658368">
                <a:tc>
                  <a:txBody>
                    <a:bodyPr wrap="square"/>
                    <a:lstStyle/>
                    <a:p>
                      <a:r>
                        <a:rPr sz="1500" b="1">
                          <a:solidFill>
                            <a:srgbClr val="FFFFFF"/>
                          </a:solidFill>
                          <a:latin typeface="Calibri"/>
                        </a:rPr>
                        <a:t>SQLite table</a:t>
                      </a:r>
                    </a:p>
                  </a:txBody>
                  <a:tcPr anchor="ctr" marL="91440" marR="91440">
                    <a:solidFill>
                      <a:srgbClr val="12343B"/>
                    </a:solidFill>
                  </a:tcPr>
                </a:tc>
                <a:tc>
                  <a:txBody>
                    <a:bodyPr wrap="square"/>
                    <a:lstStyle/>
                    <a:p>
                      <a:r>
                        <a:rPr sz="1500" b="1">
                          <a:solidFill>
                            <a:srgbClr val="FFFFFF"/>
                          </a:solidFill>
                          <a:latin typeface="Calibri"/>
                        </a:rPr>
                        <a:t>What it holds</a:t>
                      </a:r>
                    </a:p>
                  </a:txBody>
                  <a:tcPr anchor="ctr" marL="91440" marR="91440">
                    <a:solidFill>
                      <a:srgbClr val="12343B"/>
                    </a:solidFill>
                  </a:tcPr>
                </a:tc>
              </a:tr>
              <a:tr h="658368">
                <a:tc>
                  <a:txBody>
                    <a:bodyPr wrap="square"/>
                    <a:lstStyle/>
                    <a:p>
                      <a:r>
                        <a:rPr sz="1500" b="1">
                          <a:solidFill>
                            <a:srgbClr val="1F2A2E"/>
                          </a:solidFill>
                          <a:latin typeface="Calibri"/>
                        </a:rPr>
                        <a:t>inodes</a:t>
                      </a:r>
                    </a:p>
                  </a:txBody>
                  <a:tcPr anchor="ctr" marL="91440" marR="91440">
                    <a:solidFill>
                      <a:srgbClr val="FFFFFF"/>
                    </a:solidFill>
                  </a:tcPr>
                </a:tc>
                <a:tc>
                  <a:txBody>
                    <a:bodyPr wrap="square"/>
                    <a:lstStyle/>
                    <a:p>
                      <a:r>
                        <a:rPr sz="1500" b="0">
                          <a:solidFill>
                            <a:srgbClr val="1F2A2E"/>
                          </a:solidFill>
                          <a:latin typeface="Calibri"/>
                        </a:rPr>
                        <a:t>One row per file or directory: parent, name, size</a:t>
                      </a:r>
                    </a:p>
                  </a:txBody>
                  <a:tcPr anchor="ctr" marL="91440" marR="91440">
                    <a:solidFill>
                      <a:srgbClr val="FFFFFF"/>
                    </a:solidFill>
                  </a:tcPr>
                </a:tc>
              </a:tr>
              <a:tr h="658368">
                <a:tc>
                  <a:txBody>
                    <a:bodyPr wrap="square"/>
                    <a:lstStyle/>
                    <a:p>
                      <a:r>
                        <a:rPr sz="1500" b="1">
                          <a:solidFill>
                            <a:srgbClr val="1F2A2E"/>
                          </a:solidFill>
                          <a:latin typeface="Calibri"/>
                        </a:rPr>
                        <a:t>file_blocks</a:t>
                      </a:r>
                    </a:p>
                  </a:txBody>
                  <a:tcPr anchor="ctr" marL="91440" marR="91440">
                    <a:solidFill>
                      <a:srgbClr val="F6F8F8"/>
                    </a:solidFill>
                  </a:tcPr>
                </a:tc>
                <a:tc>
                  <a:txBody>
                    <a:bodyPr wrap="square"/>
                    <a:lstStyle/>
                    <a:p>
                      <a:r>
                        <a:rPr sz="1500" b="0">
                          <a:solidFill>
                            <a:srgbClr val="1F2A2E"/>
                          </a:solidFill>
                          <a:latin typeface="Calibri"/>
                        </a:rPr>
                        <a:t>Which image block holds block N of a file</a:t>
                      </a:r>
                    </a:p>
                  </a:txBody>
                  <a:tcPr anchor="ctr" marL="91440" marR="91440">
                    <a:solidFill>
                      <a:srgbClr val="F6F8F8"/>
                    </a:solidFill>
                  </a:tcPr>
                </a:tc>
              </a:tr>
              <a:tr h="658368">
                <a:tc>
                  <a:txBody>
                    <a:bodyPr wrap="square"/>
                    <a:lstStyle/>
                    <a:p>
                      <a:r>
                        <a:rPr sz="1500" b="1">
                          <a:solidFill>
                            <a:srgbClr val="1F2A2E"/>
                          </a:solidFill>
                          <a:latin typeface="Calibri"/>
                        </a:rPr>
                        <a:t>free_blocks</a:t>
                      </a:r>
                    </a:p>
                  </a:txBody>
                  <a:tcPr anchor="ctr" marL="91440" marR="91440">
                    <a:solidFill>
                      <a:srgbClr val="FFFFFF"/>
                    </a:solidFill>
                  </a:tcPr>
                </a:tc>
                <a:tc>
                  <a:txBody>
                    <a:bodyPr wrap="square"/>
                    <a:lstStyle/>
                    <a:p>
                      <a:r>
                        <a:rPr sz="1500" b="0">
                          <a:solidFill>
                            <a:srgbClr val="1F2A2E"/>
                          </a:solidFill>
                          <a:latin typeface="Calibri"/>
                        </a:rPr>
                        <a:t>Blocks not yet allocated</a:t>
                      </a:r>
                    </a:p>
                  </a:txBody>
                  <a:tcPr anchor="ctr" marL="91440" marR="91440">
                    <a:solidFill>
                      <a:srgbClr val="FFFFFF"/>
                    </a:solidFill>
                  </a:tcPr>
                </a:tc>
              </a:tr>
              <a:tr h="658368">
                <a:tc>
                  <a:txBody>
                    <a:bodyPr wrap="square"/>
                    <a:lstStyle/>
                    <a:p>
                      <a:r>
                        <a:rPr sz="1500" b="1">
                          <a:solidFill>
                            <a:srgbClr val="1F2A2E"/>
                          </a:solidFill>
                          <a:latin typeface="Calibri"/>
                        </a:rPr>
                        <a:t>access_log</a:t>
                      </a:r>
                    </a:p>
                  </a:txBody>
                  <a:tcPr anchor="ctr" marL="91440" marR="91440">
                    <a:solidFill>
                      <a:srgbClr val="F6F8F8"/>
                    </a:solidFill>
                  </a:tcPr>
                </a:tc>
                <a:tc>
                  <a:txBody>
                    <a:bodyPr wrap="square"/>
                    <a:lstStyle/>
                    <a:p>
                      <a:r>
                        <a:rPr sz="1500" b="0">
                          <a:solidFill>
                            <a:srgbClr val="1F2A2E"/>
                          </a:solidFill>
                          <a:latin typeface="Calibri"/>
                        </a:rPr>
                        <a:t>Every block read and write, in order</a:t>
                      </a:r>
                    </a:p>
                  </a:txBody>
                  <a:tcPr anchor="ctr" marL="91440" marR="91440">
                    <a:solidFill>
                      <a:srgbClr val="F6F8F8"/>
                    </a:solidFill>
                  </a:tcPr>
                </a:tc>
              </a:tr>
              <a:tr h="658368">
                <a:tc>
                  <a:txBody>
                    <a:bodyPr wrap="square"/>
                    <a:lstStyle/>
                    <a:p>
                      <a:r>
                        <a:rPr sz="1500" b="1">
                          <a:solidFill>
                            <a:srgbClr val="1F2A2E"/>
                          </a:solidFill>
                          <a:latin typeface="Calibri"/>
                        </a:rPr>
                        <a:t>policy_log</a:t>
                      </a:r>
                    </a:p>
                  </a:txBody>
                  <a:tcPr anchor="ctr" marL="91440" marR="91440">
                    <a:solidFill>
                      <a:srgbClr val="FFFFFF"/>
                    </a:solidFill>
                  </a:tcPr>
                </a:tc>
                <a:tc>
                  <a:txBody>
                    <a:bodyPr wrap="square"/>
                    <a:lstStyle/>
                    <a:p>
                      <a:r>
                        <a:rPr sz="1500" b="0">
                          <a:solidFill>
                            <a:srgbClr val="1F2A2E"/>
                          </a:solidFill>
                          <a:latin typeface="Calibri"/>
                        </a:rPr>
                        <a:t>What each review of the memory split found</a:t>
                      </a:r>
                    </a:p>
                  </a:txBody>
                  <a:tcPr anchor="ctr" marL="91440" marR="9144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Three versions, one comparison</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7</a:t>
            </a:r>
          </a:p>
        </p:txBody>
      </p:sp>
      <p:graphicFrame>
        <p:nvGraphicFramePr>
          <p:cNvPr id="4" name="Table 3"/>
          <p:cNvGraphicFramePr>
            <a:graphicFrameLocks noGrp="1"/>
          </p:cNvGraphicFramePr>
          <p:nvPr/>
        </p:nvGraphicFramePr>
        <p:xfrm>
          <a:off x="548640" y="1554480"/>
          <a:ext cx="11064240" cy="3886200"/>
        </p:xfrm>
        <a:graphic>
          <a:graphicData uri="http://schemas.openxmlformats.org/drawingml/2006/table">
            <a:tbl>
              <a:tblPr firstRow="1" bandRow="1">
                <a:tableStyleId>{5C22544A-7EE6-4342-B048-85BDC9FD1C3A}</a:tableStyleId>
              </a:tblPr>
              <a:tblGrid>
                <a:gridCol w="2377440"/>
                <a:gridCol w="1737360"/>
                <a:gridCol w="3291840"/>
                <a:gridCol w="3657600"/>
              </a:tblGrid>
              <a:tr h="777240">
                <a:tc>
                  <a:txBody>
                    <a:bodyPr wrap="square"/>
                    <a:lstStyle/>
                    <a:p>
                      <a:r>
                        <a:rPr sz="1500" b="1">
                          <a:solidFill>
                            <a:srgbClr val="FFFFFF"/>
                          </a:solidFill>
                          <a:latin typeface="Calibri"/>
                        </a:rPr>
                        <a:t/>
                      </a:r>
                    </a:p>
                  </a:txBody>
                  <a:tcPr anchor="ctr" marL="91440" marR="91440">
                    <a:solidFill>
                      <a:srgbClr val="12343B"/>
                    </a:solidFill>
                  </a:tcPr>
                </a:tc>
                <a:tc>
                  <a:txBody>
                    <a:bodyPr wrap="square"/>
                    <a:lstStyle/>
                    <a:p>
                      <a:r>
                        <a:rPr sz="1500" b="1">
                          <a:solidFill>
                            <a:srgbClr val="FFFFFF"/>
                          </a:solidFill>
                          <a:latin typeface="Calibri"/>
                        </a:rPr>
                        <a:t>A: baseline</a:t>
                      </a:r>
                    </a:p>
                  </a:txBody>
                  <a:tcPr anchor="ctr" marL="91440" marR="91440">
                    <a:solidFill>
                      <a:srgbClr val="12343B"/>
                    </a:solidFill>
                  </a:tcPr>
                </a:tc>
                <a:tc>
                  <a:txBody>
                    <a:bodyPr wrap="square"/>
                    <a:lstStyle/>
                    <a:p>
                      <a:r>
                        <a:rPr sz="1500" b="1">
                          <a:solidFill>
                            <a:srgbClr val="FFFFFF"/>
                          </a:solidFill>
                          <a:latin typeface="Calibri"/>
                        </a:rPr>
                        <a:t>B: hand-written prediction</a:t>
                      </a:r>
                    </a:p>
                  </a:txBody>
                  <a:tcPr anchor="ctr" marL="91440" marR="91440">
                    <a:solidFill>
                      <a:srgbClr val="12343B"/>
                    </a:solidFill>
                  </a:tcPr>
                </a:tc>
                <a:tc>
                  <a:txBody>
                    <a:bodyPr wrap="square"/>
                    <a:lstStyle/>
                    <a:p>
                      <a:r>
                        <a:rPr sz="1500" b="1">
                          <a:solidFill>
                            <a:srgbClr val="FFFFFF"/>
                          </a:solidFill>
                          <a:latin typeface="Calibri"/>
                        </a:rPr>
                        <a:t>C: machine learning (the project)</a:t>
                      </a:r>
                    </a:p>
                  </a:txBody>
                  <a:tcPr anchor="ctr" marL="91440" marR="91440">
                    <a:solidFill>
                      <a:srgbClr val="12343B"/>
                    </a:solidFill>
                  </a:tcPr>
                </a:tc>
              </a:tr>
              <a:tr h="777240">
                <a:tc>
                  <a:txBody>
                    <a:bodyPr wrap="square"/>
                    <a:lstStyle/>
                    <a:p>
                      <a:r>
                        <a:rPr sz="1500" b="1">
                          <a:solidFill>
                            <a:srgbClr val="1F2A2E"/>
                          </a:solidFill>
                          <a:latin typeface="Calibri"/>
                        </a:rPr>
                        <a:t>Predicts reads with</a:t>
                      </a:r>
                    </a:p>
                  </a:txBody>
                  <a:tcPr anchor="ctr" marL="91440" marR="91440">
                    <a:solidFill>
                      <a:srgbClr val="FFFFFF"/>
                    </a:solidFill>
                  </a:tcPr>
                </a:tc>
                <a:tc>
                  <a:txBody>
                    <a:bodyPr wrap="square"/>
                    <a:lstStyle/>
                    <a:p>
                      <a:r>
                        <a:rPr sz="1500" b="0">
                          <a:solidFill>
                            <a:srgbClr val="1F2A2E"/>
                          </a:solidFill>
                          <a:latin typeface="Calibri"/>
                        </a:rPr>
                        <a:t>nothing</a:t>
                      </a:r>
                    </a:p>
                  </a:txBody>
                  <a:tcPr anchor="ctr" marL="91440" marR="91440">
                    <a:solidFill>
                      <a:srgbClr val="FFFFFF"/>
                    </a:solidFill>
                  </a:tcPr>
                </a:tc>
                <a:tc>
                  <a:txBody>
                    <a:bodyPr wrap="square"/>
                    <a:lstStyle/>
                    <a:p>
                      <a:r>
                        <a:rPr sz="1500" b="0">
                          <a:solidFill>
                            <a:srgbClr val="1F2A2E"/>
                          </a:solidFill>
                          <a:latin typeface="Calibri"/>
                        </a:rPr>
                        <a:t>stride detector and follower table, written by hand</a:t>
                      </a:r>
                    </a:p>
                  </a:txBody>
                  <a:tcPr anchor="ctr" marL="91440" marR="91440">
                    <a:solidFill>
                      <a:srgbClr val="FFFFFF"/>
                    </a:solidFill>
                  </a:tcPr>
                </a:tc>
                <a:tc>
                  <a:txBody>
                    <a:bodyPr wrap="square"/>
                    <a:lstStyle/>
                    <a:p>
                      <a:r>
                        <a:rPr sz="1500" b="0">
                          <a:solidFill>
                            <a:srgbClr val="1F2A2E"/>
                          </a:solidFill>
                          <a:latin typeface="Calibri"/>
                        </a:rPr>
                        <a:t>a decision tree trained on the reads</a:t>
                      </a:r>
                    </a:p>
                  </a:txBody>
                  <a:tcPr anchor="ctr" marL="91440" marR="91440">
                    <a:solidFill>
                      <a:srgbClr val="E6F2F3"/>
                    </a:solidFill>
                  </a:tcPr>
                </a:tc>
              </a:tr>
              <a:tr h="777240">
                <a:tc>
                  <a:txBody>
                    <a:bodyPr wrap="square"/>
                    <a:lstStyle/>
                    <a:p>
                      <a:r>
                        <a:rPr sz="1500" b="1">
                          <a:solidFill>
                            <a:srgbClr val="1F2A2E"/>
                          </a:solidFill>
                          <a:latin typeface="Calibri"/>
                        </a:rPr>
                        <a:t>Prefetches</a:t>
                      </a:r>
                    </a:p>
                  </a:txBody>
                  <a:tcPr anchor="ctr" marL="91440" marR="91440">
                    <a:solidFill>
                      <a:srgbClr val="F6F8F8"/>
                    </a:solidFill>
                  </a:tcPr>
                </a:tc>
                <a:tc>
                  <a:txBody>
                    <a:bodyPr wrap="square"/>
                    <a:lstStyle/>
                    <a:p>
                      <a:r>
                        <a:rPr sz="1500" b="0">
                          <a:solidFill>
                            <a:srgbClr val="1F2A2E"/>
                          </a:solidFill>
                          <a:latin typeface="Calibri"/>
                        </a:rPr>
                        <a:t>never</a:t>
                      </a:r>
                    </a:p>
                  </a:txBody>
                  <a:tcPr anchor="ctr" marL="91440" marR="91440">
                    <a:solidFill>
                      <a:srgbClr val="F6F8F8"/>
                    </a:solidFill>
                  </a:tcPr>
                </a:tc>
                <a:tc>
                  <a:txBody>
                    <a:bodyPr wrap="square"/>
                    <a:lstStyle/>
                    <a:p>
                      <a:r>
                        <a:rPr sz="1500" b="0">
                          <a:solidFill>
                            <a:srgbClr val="1F2A2E"/>
                          </a:solidFill>
                          <a:latin typeface="Calibri"/>
                        </a:rPr>
                        <a:t>2 blocks ahead, fixed confidence 0.5</a:t>
                      </a:r>
                    </a:p>
                  </a:txBody>
                  <a:tcPr anchor="ctr" marL="91440" marR="91440">
                    <a:solidFill>
                      <a:srgbClr val="F6F8F8"/>
                    </a:solidFill>
                  </a:tcPr>
                </a:tc>
                <a:tc>
                  <a:txBody>
                    <a:bodyPr wrap="square"/>
                    <a:lstStyle/>
                    <a:p>
                      <a:r>
                        <a:rPr sz="1500" b="0">
                          <a:solidFill>
                            <a:srgbClr val="1F2A2E"/>
                          </a:solidFill>
                          <a:latin typeface="Calibri"/>
                        </a:rPr>
                        <a:t>4 blocks ahead, only from a pure leaf</a:t>
                      </a:r>
                    </a:p>
                  </a:txBody>
                  <a:tcPr anchor="ctr" marL="91440" marR="91440">
                    <a:solidFill>
                      <a:srgbClr val="E6F2F3"/>
                    </a:solidFill>
                  </a:tcPr>
                </a:tc>
              </a:tr>
              <a:tr h="777240">
                <a:tc>
                  <a:txBody>
                    <a:bodyPr wrap="square"/>
                    <a:lstStyle/>
                    <a:p>
                      <a:r>
                        <a:rPr sz="1500" b="1">
                          <a:solidFill>
                            <a:srgbClr val="1F2A2E"/>
                          </a:solidFill>
                          <a:latin typeface="Calibri"/>
                        </a:rPr>
                        <a:t>Memory split between caches</a:t>
                      </a:r>
                    </a:p>
                  </a:txBody>
                  <a:tcPr anchor="ctr" marL="91440" marR="91440">
                    <a:solidFill>
                      <a:srgbClr val="FFFFFF"/>
                    </a:solidFill>
                  </a:tcPr>
                </a:tc>
                <a:tc>
                  <a:txBody>
                    <a:bodyPr wrap="square"/>
                    <a:lstStyle/>
                    <a:p>
                      <a:r>
                        <a:rPr sz="1500" b="0">
                          <a:solidFill>
                            <a:srgbClr val="1F2A2E"/>
                          </a:solidFill>
                          <a:latin typeface="Calibri"/>
                        </a:rPr>
                        <a:t>fixed 90 / 10</a:t>
                      </a:r>
                    </a:p>
                  </a:txBody>
                  <a:tcPr anchor="ctr" marL="91440" marR="91440">
                    <a:solidFill>
                      <a:srgbClr val="FFFFFF"/>
                    </a:solidFill>
                  </a:tcPr>
                </a:tc>
                <a:tc>
                  <a:txBody>
                    <a:bodyPr wrap="square"/>
                    <a:lstStyle/>
                    <a:p>
                      <a:r>
                        <a:rPr sz="1500" b="0">
                          <a:solidFill>
                            <a:srgbClr val="1F2A2E"/>
                          </a:solidFill>
                          <a:latin typeface="Calibri"/>
                        </a:rPr>
                        <a:t>fixed 90 / 10</a:t>
                      </a:r>
                    </a:p>
                  </a:txBody>
                  <a:tcPr anchor="ctr" marL="91440" marR="91440">
                    <a:solidFill>
                      <a:srgbClr val="FFFFFF"/>
                    </a:solidFill>
                  </a:tcPr>
                </a:tc>
                <a:tc>
                  <a:txBody>
                    <a:bodyPr wrap="square"/>
                    <a:lstStyle/>
                    <a:p>
                      <a:r>
                        <a:rPr sz="1500" b="0">
                          <a:solidFill>
                            <a:srgbClr val="1F2A2E"/>
                          </a:solidFill>
                          <a:latin typeface="Calibri"/>
                        </a:rPr>
                        <a:t>learned from measured read times</a:t>
                      </a:r>
                    </a:p>
                  </a:txBody>
                  <a:tcPr anchor="ctr" marL="91440" marR="91440">
                    <a:solidFill>
                      <a:srgbClr val="E6F2F3"/>
                    </a:solidFill>
                  </a:tcPr>
                </a:tc>
              </a:tr>
              <a:tr h="777240">
                <a:tc>
                  <a:txBody>
                    <a:bodyPr wrap="square"/>
                    <a:lstStyle/>
                    <a:p>
                      <a:r>
                        <a:rPr sz="1500" b="1">
                          <a:solidFill>
                            <a:srgbClr val="1F2A2E"/>
                          </a:solidFill>
                          <a:latin typeface="Calibri"/>
                        </a:rPr>
                        <a:t>Learns while running</a:t>
                      </a:r>
                    </a:p>
                  </a:txBody>
                  <a:tcPr anchor="ctr" marL="91440" marR="91440">
                    <a:solidFill>
                      <a:srgbClr val="F6F8F8"/>
                    </a:solidFill>
                  </a:tcPr>
                </a:tc>
                <a:tc>
                  <a:txBody>
                    <a:bodyPr wrap="square"/>
                    <a:lstStyle/>
                    <a:p>
                      <a:r>
                        <a:rPr sz="1500" b="0">
                          <a:solidFill>
                            <a:srgbClr val="1F2A2E"/>
                          </a:solidFill>
                          <a:latin typeface="Calibri"/>
                        </a:rPr>
                        <a:t>no</a:t>
                      </a:r>
                    </a:p>
                  </a:txBody>
                  <a:tcPr anchor="ctr" marL="91440" marR="91440">
                    <a:solidFill>
                      <a:srgbClr val="F6F8F8"/>
                    </a:solidFill>
                  </a:tcPr>
                </a:tc>
                <a:tc>
                  <a:txBody>
                    <a:bodyPr wrap="square"/>
                    <a:lstStyle/>
                    <a:p>
                      <a:r>
                        <a:rPr sz="1500" b="0">
                          <a:solidFill>
                            <a:srgbClr val="1F2A2E"/>
                          </a:solidFill>
                          <a:latin typeface="Calibri"/>
                        </a:rPr>
                        <a:t>counts what it has seen</a:t>
                      </a:r>
                    </a:p>
                  </a:txBody>
                  <a:tcPr anchor="ctr" marL="91440" marR="91440">
                    <a:solidFill>
                      <a:srgbClr val="F6F8F8"/>
                    </a:solidFill>
                  </a:tcPr>
                </a:tc>
                <a:tc>
                  <a:txBody>
                    <a:bodyPr wrap="square"/>
                    <a:lstStyle/>
                    <a:p>
                      <a:r>
                        <a:rPr sz="1500" b="0">
                          <a:solidFill>
                            <a:srgbClr val="1F2A2E"/>
                          </a:solidFill>
                          <a:latin typeface="Calibri"/>
                        </a:rPr>
                        <a:t>retrains every 256 reads</a:t>
                      </a:r>
                    </a:p>
                  </a:txBody>
                  <a:tcPr anchor="ctr" marL="91440" marR="91440">
                    <a:solidFill>
                      <a:srgbClr val="E6F2F3"/>
                    </a:solidFill>
                  </a:tcPr>
                </a:tc>
              </a:tr>
            </a:tbl>
          </a:graphicData>
        </a:graphic>
      </p:graphicFrame>
      <p:sp>
        <p:nvSpPr>
          <p:cNvPr id="5" name="TextBox 4"/>
          <p:cNvSpPr txBox="1"/>
          <p:nvPr/>
        </p:nvSpPr>
        <p:spPr>
          <a:xfrm>
            <a:off x="548640" y="5715000"/>
            <a:ext cx="11064240" cy="548640"/>
          </a:xfrm>
          <a:prstGeom prst="rect">
            <a:avLst/>
          </a:prstGeom>
          <a:noFill/>
        </p:spPr>
        <p:txBody>
          <a:bodyPr wrap="square" anchor="t" lIns="45720" rIns="45720" tIns="27432" bIns="27432">
            <a:spAutoFit/>
          </a:bodyPr>
          <a:lstStyle/>
          <a:p>
            <a:pPr algn="l">
              <a:spcAft>
                <a:spcPts val="600"/>
              </a:spcAft>
            </a:pPr>
            <a:r>
              <a:rPr sz="1600" b="1" i="0">
                <a:solidFill>
                  <a:srgbClr val="0B7285"/>
                </a:solidFill>
                <a:latin typeface="Calibri"/>
              </a:rPr>
              <a:t>All three return the same bytes. Prediction changes only speed, never correctness.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Implementation: predicting the next reads</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8</a:t>
            </a:r>
          </a:p>
        </p:txBody>
      </p:sp>
      <p:sp>
        <p:nvSpPr>
          <p:cNvPr id="4" name="Rounded Rectangle 3"/>
          <p:cNvSpPr/>
          <p:nvPr/>
        </p:nvSpPr>
        <p:spPr>
          <a:xfrm>
            <a:off x="548640" y="1508760"/>
            <a:ext cx="3291840" cy="16002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0B7285"/>
                </a:solidFill>
                <a:latin typeface="Calibri"/>
              </a:rPr>
              <a:t>Inputs</a:t>
            </a:r>
          </a:p>
          <a:p>
            <a:pPr algn="ctr"/>
            <a:r>
              <a:rPr sz="1500" b="0">
                <a:solidFill>
                  <a:srgbClr val="1F2A2E"/>
                </a:solidFill>
                <a:latin typeface="Calibri"/>
              </a:rPr>
              <a:t>file number</a:t>
            </a:r>
          </a:p>
          <a:p>
            <a:pPr algn="ctr"/>
            <a:r>
              <a:rPr sz="1500" b="0">
                <a:solidFill>
                  <a:srgbClr val="1F2A2E"/>
                </a:solidFill>
                <a:latin typeface="Calibri"/>
              </a:rPr>
              <a:t>block number</a:t>
            </a:r>
          </a:p>
          <a:p>
            <a:pPr algn="ctr"/>
            <a:r>
              <a:rPr sz="1500" b="0">
                <a:solidFill>
                  <a:srgbClr val="1F2A2E"/>
                </a:solidFill>
                <a:latin typeface="Calibri"/>
              </a:rPr>
              <a:t>the last two jumps</a:t>
            </a:r>
          </a:p>
        </p:txBody>
      </p:sp>
      <p:cxnSp>
        <p:nvCxnSpPr>
          <p:cNvPr id="5" name="Connector 4"/>
          <p:cNvCxnSpPr/>
          <p:nvPr/>
        </p:nvCxnSpPr>
        <p:spPr>
          <a:xfrm>
            <a:off x="3840480" y="2304288"/>
            <a:ext cx="594360" cy="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434840" y="1508760"/>
            <a:ext cx="3291840" cy="1600200"/>
          </a:xfrm>
          <a:prstGeom prst="roundRect">
            <a:avLst>
              <a:gd name="adj" fmla="val 8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E8963A"/>
                </a:solidFill>
                <a:latin typeface="Calibri"/>
              </a:rPr>
              <a:t>Decision tree</a:t>
            </a:r>
          </a:p>
          <a:p>
            <a:pPr algn="ctr"/>
            <a:r>
              <a:rPr sz="1500" b="0">
                <a:solidFill>
                  <a:srgbClr val="FFFFFF"/>
                </a:solidFill>
                <a:latin typeface="Calibri"/>
              </a:rPr>
              <a:t>scikit-learn</a:t>
            </a:r>
          </a:p>
          <a:p>
            <a:pPr algn="ctr"/>
            <a:r>
              <a:rPr sz="1500" b="0">
                <a:solidFill>
                  <a:srgbClr val="FFFFFF"/>
                </a:solidFill>
                <a:latin typeface="Calibri"/>
              </a:rPr>
              <a:t>DecisionTreeRegressor</a:t>
            </a:r>
          </a:p>
        </p:txBody>
      </p:sp>
      <p:cxnSp>
        <p:nvCxnSpPr>
          <p:cNvPr id="7" name="Connector 6"/>
          <p:cNvCxnSpPr/>
          <p:nvPr/>
        </p:nvCxnSpPr>
        <p:spPr>
          <a:xfrm>
            <a:off x="7726679" y="2304288"/>
            <a:ext cx="594361" cy="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321040" y="1508760"/>
            <a:ext cx="3291840" cy="16002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0B7285"/>
                </a:solidFill>
                <a:latin typeface="Calibri"/>
              </a:rPr>
              <a:t>Output</a:t>
            </a:r>
          </a:p>
          <a:p>
            <a:pPr algn="ctr"/>
            <a:r>
              <a:rPr sz="1500" b="0">
                <a:solidFill>
                  <a:srgbClr val="1F2A2E"/>
                </a:solidFill>
                <a:latin typeface="Calibri"/>
              </a:rPr>
              <a:t>the next four jumps</a:t>
            </a:r>
          </a:p>
          <a:p>
            <a:pPr algn="ctr"/>
            <a:r>
              <a:rPr sz="1500" b="0">
                <a:solidFill>
                  <a:srgbClr val="1F2A2E"/>
                </a:solidFill>
                <a:latin typeface="Calibri"/>
              </a:rPr>
              <a:t>= four blocks to prefetch</a:t>
            </a:r>
          </a:p>
        </p:txBody>
      </p:sp>
      <p:sp>
        <p:nvSpPr>
          <p:cNvPr id="9" name="TextBox 8"/>
          <p:cNvSpPr txBox="1"/>
          <p:nvPr/>
        </p:nvSpPr>
        <p:spPr>
          <a:xfrm>
            <a:off x="548640" y="3429000"/>
            <a:ext cx="5486400" cy="2743200"/>
          </a:xfrm>
          <a:prstGeom prst="rect">
            <a:avLst/>
          </a:prstGeom>
          <a:noFill/>
        </p:spPr>
        <p:txBody>
          <a:bodyPr wrap="square" anchor="t" lIns="45720" rIns="45720" tIns="27432" bIns="27432">
            <a:spAutoFit/>
          </a:bodyPr>
          <a:lstStyle/>
          <a:p>
            <a:pPr algn="l" marL="285750" indent="-285750">
              <a:spcAft>
                <a:spcPts val="1000"/>
              </a:spcAft>
              <a:buChar char="•"/>
            </a:pPr>
            <a:r>
              <a:rPr sz="1700" b="1" i="0">
                <a:solidFill>
                  <a:srgbClr val="1F2A2E"/>
                </a:solidFill>
                <a:latin typeface="Calibri"/>
              </a:rPr>
              <a:t>A jump is how far the next read is from this one.</a:t>
            </a:r>
          </a:p>
          <a:p>
            <a:pPr algn="l" marL="285750" indent="-285750">
              <a:spcAft>
                <a:spcPts val="1000"/>
              </a:spcAft>
              <a:buChar char="•"/>
            </a:pPr>
            <a:r>
              <a:rPr sz="1700" b="0" i="0">
                <a:solidFill>
                  <a:srgbClr val="1F2A2E"/>
                </a:solidFill>
                <a:latin typeface="Calibri"/>
              </a:rPr>
              <a:t>Reading a file front to back is a jump of +1 block every time.</a:t>
            </a:r>
          </a:p>
          <a:p>
            <a:pPr algn="l" marL="285750" indent="-285750">
              <a:spcAft>
                <a:spcPts val="1000"/>
              </a:spcAft>
              <a:buChar char="•"/>
            </a:pPr>
            <a:r>
              <a:rPr sz="1700" b="0" i="0">
                <a:solidFill>
                  <a:srgbClr val="1F2A2E"/>
                </a:solidFill>
                <a:latin typeface="Calibri"/>
              </a:rPr>
              <a:t>Predicting jumps, not blocks, means what is learned on one file works on every file.</a:t>
            </a:r>
          </a:p>
        </p:txBody>
      </p:sp>
      <p:sp>
        <p:nvSpPr>
          <p:cNvPr id="10" name="TextBox 9"/>
          <p:cNvSpPr txBox="1"/>
          <p:nvPr/>
        </p:nvSpPr>
        <p:spPr>
          <a:xfrm>
            <a:off x="6309360" y="3429000"/>
            <a:ext cx="5303520" cy="2743200"/>
          </a:xfrm>
          <a:prstGeom prst="rect">
            <a:avLst/>
          </a:prstGeom>
          <a:noFill/>
        </p:spPr>
        <p:txBody>
          <a:bodyPr wrap="square" anchor="t" lIns="45720" rIns="45720" tIns="27432" bIns="27432">
            <a:spAutoFit/>
          </a:bodyPr>
          <a:lstStyle/>
          <a:p>
            <a:pPr algn="l" marL="285750" indent="-285750">
              <a:spcAft>
                <a:spcPts val="1000"/>
              </a:spcAft>
              <a:buChar char="•"/>
            </a:pPr>
            <a:r>
              <a:rPr sz="1700" b="0" i="0">
                <a:solidFill>
                  <a:srgbClr val="1F2A2E"/>
                </a:solidFill>
                <a:latin typeface="Calibri"/>
              </a:rPr>
              <a:t>Trained on the last 2,048 reads; a new tree every 256 reads.</a:t>
            </a:r>
          </a:p>
          <a:p>
            <a:pPr algn="l" marL="285750" indent="-285750">
              <a:spcAft>
                <a:spcPts val="1000"/>
              </a:spcAft>
              <a:buChar char="•"/>
            </a:pPr>
            <a:r>
              <a:rPr sz="1700" b="0" i="0">
                <a:solidFill>
                  <a:srgbClr val="1F2A2E"/>
                </a:solidFill>
                <a:latin typeface="Calibri"/>
              </a:rPr>
              <a:t>Each leaf holds at least two past examples. If they all continued the same way, the leaf is pure and the tree predicts.</a:t>
            </a:r>
          </a:p>
          <a:p>
            <a:pPr algn="l" marL="285750" indent="-285750">
              <a:spcAft>
                <a:spcPts val="1000"/>
              </a:spcAft>
              <a:buChar char="•"/>
            </a:pPr>
            <a:r>
              <a:rPr sz="1700" b="1" i="0">
                <a:solidFill>
                  <a:srgbClr val="0B7285"/>
                </a:solidFill>
                <a:latin typeface="Calibri"/>
              </a:rPr>
              <a:t>If they disagree, there is no pattern, and it predicts nothing. That is how it stays quiet on random reads.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Implementation: Python learns, the filesystem predicts</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9</a:t>
            </a:r>
          </a:p>
        </p:txBody>
      </p:sp>
      <p:sp>
        <p:nvSpPr>
          <p:cNvPr id="4" name="Rounded Rectangle 3"/>
          <p:cNvSpPr/>
          <p:nvPr/>
        </p:nvSpPr>
        <p:spPr>
          <a:xfrm>
            <a:off x="548640" y="1508760"/>
            <a:ext cx="3383280" cy="1828800"/>
          </a:xfrm>
          <a:prstGeom prst="roundRect">
            <a:avLst>
              <a:gd name="adj" fmla="val 8000"/>
            </a:avLst>
          </a:prstGeom>
          <a:solidFill>
            <a:srgbClr val="FBF1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1F2A2E"/>
                </a:solidFill>
                <a:latin typeface="Calibri"/>
              </a:rPr>
              <a:t>Python  (python/model.py)</a:t>
            </a:r>
          </a:p>
          <a:p>
            <a:pPr algn="ctr"/>
            <a:r>
              <a:rPr sz="1500" b="0">
                <a:solidFill>
                  <a:srgbClr val="5C6B70"/>
                </a:solidFill>
                <a:latin typeface="Calibri"/>
              </a:rPr>
              <a:t>keeps the recent reads</a:t>
            </a:r>
          </a:p>
          <a:p>
            <a:pPr algn="ctr"/>
            <a:r>
              <a:rPr sz="1500" b="0">
                <a:solidFill>
                  <a:srgbClr val="5C6B70"/>
                </a:solidFill>
                <a:latin typeface="Calibri"/>
              </a:rPr>
              <a:t>trains the tree with scikit-learn</a:t>
            </a:r>
          </a:p>
        </p:txBody>
      </p:sp>
      <p:sp>
        <p:nvSpPr>
          <p:cNvPr id="5" name="Rounded Rectangle 4"/>
          <p:cNvSpPr/>
          <p:nvPr/>
        </p:nvSpPr>
        <p:spPr>
          <a:xfrm>
            <a:off x="548640" y="4206240"/>
            <a:ext cx="3383280" cy="18288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1F2A2E"/>
                </a:solidFill>
                <a:latin typeface="Calibri"/>
              </a:rPr>
              <a:t>Filesystem  (C++)</a:t>
            </a:r>
          </a:p>
          <a:p>
            <a:pPr algn="ctr"/>
            <a:r>
              <a:rPr sz="1500" b="0">
                <a:solidFill>
                  <a:srgbClr val="5C6B70"/>
                </a:solidFill>
                <a:latin typeface="Calibri"/>
              </a:rPr>
              <a:t>keeps the newest tree</a:t>
            </a:r>
          </a:p>
          <a:p>
            <a:pPr algn="ctr"/>
            <a:r>
              <a:rPr sz="1500" b="0">
                <a:solidFill>
                  <a:srgbClr val="5C6B70"/>
                </a:solidFill>
                <a:latin typeface="Calibri"/>
              </a:rPr>
              <a:t>follows it on every read</a:t>
            </a:r>
          </a:p>
        </p:txBody>
      </p:sp>
      <p:cxnSp>
        <p:nvCxnSpPr>
          <p:cNvPr id="6" name="Connector 5"/>
          <p:cNvCxnSpPr/>
          <p:nvPr/>
        </p:nvCxnSpPr>
        <p:spPr>
          <a:xfrm flipV="1">
            <a:off x="1554480" y="3337560"/>
            <a:ext cx="0" cy="86868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26080" y="3337560"/>
            <a:ext cx="0" cy="868680"/>
          </a:xfrm>
          <a:prstGeom prst="line">
            <a:avLst/>
          </a:prstGeom>
          <a:ln w="25400">
            <a:solidFill>
              <a:srgbClr val="5C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37160" y="3493008"/>
            <a:ext cx="1371600" cy="548640"/>
          </a:xfrm>
          <a:prstGeom prst="rect">
            <a:avLst/>
          </a:prstGeom>
          <a:noFill/>
        </p:spPr>
        <p:txBody>
          <a:bodyPr wrap="square" anchor="t" lIns="45720" rIns="45720" tIns="27432" bIns="27432">
            <a:spAutoFit/>
          </a:bodyPr>
          <a:lstStyle/>
          <a:p>
            <a:pPr algn="r">
              <a:spcAft>
                <a:spcPts val="0"/>
              </a:spcAft>
            </a:pPr>
            <a:r>
              <a:rPr sz="1200" b="0" i="0">
                <a:solidFill>
                  <a:srgbClr val="5C6B70"/>
                </a:solidFill>
                <a:latin typeface="Calibri"/>
              </a:rPr>
              <a:t>each read</a:t>
            </a:r>
          </a:p>
          <a:p>
            <a:pPr algn="r">
              <a:spcAft>
                <a:spcPts val="0"/>
              </a:spcAft>
            </a:pPr>
            <a:r>
              <a:rPr sz="1200" b="0" i="0">
                <a:solidFill>
                  <a:srgbClr val="5C6B70"/>
                </a:solidFill>
                <a:latin typeface="Calibri"/>
              </a:rPr>
              <a:t>(a pipe)</a:t>
            </a:r>
          </a:p>
        </p:txBody>
      </p:sp>
      <p:sp>
        <p:nvSpPr>
          <p:cNvPr id="9" name="TextBox 8"/>
          <p:cNvSpPr txBox="1"/>
          <p:nvPr/>
        </p:nvSpPr>
        <p:spPr>
          <a:xfrm>
            <a:off x="3017520" y="3493008"/>
            <a:ext cx="1463040" cy="548640"/>
          </a:xfrm>
          <a:prstGeom prst="rect">
            <a:avLst/>
          </a:prstGeom>
          <a:noFill/>
        </p:spPr>
        <p:txBody>
          <a:bodyPr wrap="square" anchor="t" lIns="45720" rIns="45720" tIns="27432" bIns="27432">
            <a:spAutoFit/>
          </a:bodyPr>
          <a:lstStyle/>
          <a:p>
            <a:pPr algn="l">
              <a:spcAft>
                <a:spcPts val="0"/>
              </a:spcAft>
            </a:pPr>
            <a:r>
              <a:rPr sz="1200" b="0" i="0">
                <a:solidFill>
                  <a:srgbClr val="5C6B70"/>
                </a:solidFill>
                <a:latin typeface="Calibri"/>
              </a:rPr>
              <a:t>the tree, as text</a:t>
            </a:r>
          </a:p>
          <a:p>
            <a:pPr algn="l">
              <a:spcAft>
                <a:spcPts val="0"/>
              </a:spcAft>
            </a:pPr>
            <a:r>
              <a:rPr sz="1200" b="0" i="0">
                <a:solidFill>
                  <a:srgbClr val="5C6B70"/>
                </a:solidFill>
                <a:latin typeface="Calibri"/>
              </a:rPr>
              <a:t>(a pipe)</a:t>
            </a:r>
          </a:p>
        </p:txBody>
      </p:sp>
      <p:sp>
        <p:nvSpPr>
          <p:cNvPr id="10" name="Rounded Rectangle 9"/>
          <p:cNvSpPr/>
          <p:nvPr/>
        </p:nvSpPr>
        <p:spPr>
          <a:xfrm>
            <a:off x="4846320" y="1508760"/>
            <a:ext cx="6766560" cy="224028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600200"/>
            <a:ext cx="6400800" cy="2560320"/>
          </a:xfrm>
          <a:prstGeom prst="rect">
            <a:avLst/>
          </a:prstGeom>
          <a:noFill/>
        </p:spPr>
        <p:txBody>
          <a:bodyPr wrap="square" anchor="t" lIns="45720" rIns="45720" tIns="27432" bIns="27432">
            <a:spAutoFit/>
          </a:bodyPr>
          <a:lstStyle/>
          <a:p>
            <a:pPr algn="l">
              <a:spcAft>
                <a:spcPts val="500"/>
              </a:spcAft>
            </a:pPr>
            <a:r>
              <a:rPr sz="1300" b="0" i="0">
                <a:solidFill>
                  <a:srgbClr val="1F2A2E"/>
                </a:solidFill>
                <a:latin typeface="Courier New"/>
              </a:rPr>
              <a:t>T 5                    a tree of 5 nodes follows</a:t>
            </a:r>
          </a:p>
          <a:p>
            <a:pPr algn="l">
              <a:spcAft>
                <a:spcPts val="500"/>
              </a:spcAft>
            </a:pPr>
            <a:r>
              <a:rPr sz="1300" b="0" i="0">
                <a:solidFill>
                  <a:srgbClr val="1F2A2E"/>
                </a:solidFill>
                <a:latin typeface="Courier New"/>
              </a:rPr>
              <a:t>3 0.5 1 2              is input 3 &lt;= 0.5 ? node 1 : node 2</a:t>
            </a:r>
          </a:p>
          <a:p>
            <a:pPr algn="l">
              <a:spcAft>
                <a:spcPts val="500"/>
              </a:spcAft>
            </a:pPr>
            <a:r>
              <a:rPr sz="1300" b="0" i="0">
                <a:solidFill>
                  <a:srgbClr val="1F2A2E"/>
                </a:solidFill>
                <a:latin typeface="Courier New"/>
              </a:rPr>
              <a:t>-1 1 0 1 0 1 0 1 0 1   leaf, pure: four jumps of +1 block</a:t>
            </a:r>
          </a:p>
          <a:p>
            <a:pPr algn="l">
              <a:spcAft>
                <a:spcPts val="500"/>
              </a:spcAft>
            </a:pPr>
            <a:r>
              <a:rPr sz="1300" b="0" i="0">
                <a:solidFill>
                  <a:srgbClr val="1F2A2E"/>
                </a:solidFill>
                <a:latin typeface="Courier New"/>
              </a:rPr>
              <a:t>1 200.5 3 4            another question</a:t>
            </a:r>
          </a:p>
          <a:p>
            <a:pPr algn="l">
              <a:spcAft>
                <a:spcPts val="500"/>
              </a:spcAft>
            </a:pPr>
            <a:r>
              <a:rPr sz="1300" b="0" i="0">
                <a:solidFill>
                  <a:srgbClr val="1F2A2E"/>
                </a:solidFill>
                <a:latin typeface="Courier New"/>
              </a:rPr>
              <a:t>-1 0                   leaf, not pure: predict nothing</a:t>
            </a:r>
          </a:p>
          <a:p>
            <a:pPr algn="l">
              <a:spcAft>
                <a:spcPts val="500"/>
              </a:spcAft>
            </a:pPr>
            <a:r>
              <a:rPr sz="1300" b="0" i="0">
                <a:solidFill>
                  <a:srgbClr val="1F2A2E"/>
                </a:solidFill>
                <a:latin typeface="Courier New"/>
              </a:rPr>
              <a:t>-1 1 0 7 0 -3 0 7 0 -3 leaf, pure, with its four jumps</a:t>
            </a:r>
          </a:p>
        </p:txBody>
      </p:sp>
      <p:sp>
        <p:nvSpPr>
          <p:cNvPr id="12" name="TextBox 11"/>
          <p:cNvSpPr txBox="1"/>
          <p:nvPr/>
        </p:nvSpPr>
        <p:spPr>
          <a:xfrm>
            <a:off x="4846320" y="4069080"/>
            <a:ext cx="6766560" cy="2103120"/>
          </a:xfrm>
          <a:prstGeom prst="rect">
            <a:avLst/>
          </a:prstGeom>
          <a:noFill/>
        </p:spPr>
        <p:txBody>
          <a:bodyPr wrap="square" anchor="t" lIns="45720" rIns="45720" tIns="27432" bIns="27432">
            <a:spAutoFit/>
          </a:bodyPr>
          <a:lstStyle/>
          <a:p>
            <a:pPr algn="l" marL="285750" indent="-285750">
              <a:spcAft>
                <a:spcPts val="1000"/>
              </a:spcAft>
              <a:buChar char="•"/>
            </a:pPr>
            <a:r>
              <a:rPr sz="1700" b="0" i="0">
                <a:solidFill>
                  <a:srgbClr val="1F2A2E"/>
                </a:solidFill>
                <a:latin typeface="Calibri"/>
              </a:rPr>
              <a:t>Asking Python about every read took about 100 microseconds, longer than a cached read takes.</a:t>
            </a:r>
          </a:p>
          <a:p>
            <a:pPr algn="l" marL="285750" indent="-285750">
              <a:spcAft>
                <a:spcPts val="1000"/>
              </a:spcAft>
              <a:buChar char="•"/>
            </a:pPr>
            <a:r>
              <a:rPr sz="1700" b="0" i="0">
                <a:solidFill>
                  <a:srgbClr val="1F2A2E"/>
                </a:solidFill>
                <a:latin typeface="Calibri"/>
              </a:rPr>
              <a:t>Following the tree in C++ is a short chain of comparisons, with no waiting.</a:t>
            </a:r>
          </a:p>
          <a:p>
            <a:pPr algn="l" marL="285750" indent="-285750">
              <a:spcAft>
                <a:spcPts val="1000"/>
              </a:spcAft>
              <a:buChar char="•"/>
            </a:pPr>
            <a:r>
              <a:rPr sz="1700" b="1" i="0">
                <a:solidFill>
                  <a:srgbClr val="0B7285"/>
                </a:solidFill>
                <a:latin typeface="Calibri"/>
              </a:rPr>
              <a:t>Sequential reads: 163 us when Python predicted, 87 us now.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Implementation: learning the memory split</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10</a:t>
            </a:r>
          </a:p>
        </p:txBody>
      </p:sp>
      <p:sp>
        <p:nvSpPr>
          <p:cNvPr id="4" name="TextBox 3"/>
          <p:cNvSpPr txBox="1"/>
          <p:nvPr/>
        </p:nvSpPr>
        <p:spPr>
          <a:xfrm>
            <a:off x="548640" y="1417320"/>
            <a:ext cx="11064240" cy="411480"/>
          </a:xfrm>
          <a:prstGeom prst="rect">
            <a:avLst/>
          </a:prstGeom>
          <a:noFill/>
        </p:spPr>
        <p:txBody>
          <a:bodyPr wrap="square" anchor="t" lIns="45720" rIns="45720" tIns="27432" bIns="27432">
            <a:spAutoFit/>
          </a:bodyPr>
          <a:lstStyle/>
          <a:p>
            <a:pPr algn="l">
              <a:spcAft>
                <a:spcPts val="600"/>
              </a:spcAft>
            </a:pPr>
            <a:r>
              <a:rPr sz="1700" b="0" i="0">
                <a:solidFill>
                  <a:srgbClr val="5C6B70"/>
                </a:solidFill>
                <a:latin typeface="Calibri"/>
              </a:rPr>
              <a:t>One memory budget, two caches. Version C starts at 90 / 10 and moves 5% at a time.</a:t>
            </a:r>
          </a:p>
        </p:txBody>
      </p:sp>
      <p:sp>
        <p:nvSpPr>
          <p:cNvPr id="5" name="Rectangle 4"/>
          <p:cNvSpPr/>
          <p:nvPr/>
        </p:nvSpPr>
        <p:spPr>
          <a:xfrm>
            <a:off x="548640" y="1965960"/>
            <a:ext cx="8778240" cy="868680"/>
          </a:xfrm>
          <a:prstGeom prst="rect">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libri"/>
              </a:rPr>
              <a:t>Block cache: contents of file blocks</a:t>
            </a:r>
          </a:p>
        </p:txBody>
      </p:sp>
      <p:sp>
        <p:nvSpPr>
          <p:cNvPr id="6" name="Rectangle 5"/>
          <p:cNvSpPr/>
          <p:nvPr/>
        </p:nvSpPr>
        <p:spPr>
          <a:xfrm>
            <a:off x="9326880" y="1965960"/>
            <a:ext cx="2286000" cy="868680"/>
          </a:xfrm>
          <a:prstGeom prst="rect">
            <a:avLst/>
          </a:prstGeom>
          <a:solidFill>
            <a:srgbClr val="E896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Mapping cache</a:t>
            </a:r>
          </a:p>
        </p:txBody>
      </p:sp>
      <p:sp>
        <p:nvSpPr>
          <p:cNvPr id="7" name="Rounded Rectangle 6"/>
          <p:cNvSpPr/>
          <p:nvPr/>
        </p:nvSpPr>
        <p:spPr>
          <a:xfrm>
            <a:off x="548640" y="3200400"/>
            <a:ext cx="2651760" cy="301752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337560"/>
            <a:ext cx="457200" cy="45720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1</a:t>
            </a:r>
          </a:p>
        </p:txBody>
      </p:sp>
      <p:sp>
        <p:nvSpPr>
          <p:cNvPr id="9" name="TextBox 8"/>
          <p:cNvSpPr txBox="1"/>
          <p:nvPr/>
        </p:nvSpPr>
        <p:spPr>
          <a:xfrm>
            <a:off x="1280160" y="3337560"/>
            <a:ext cx="1828800" cy="457200"/>
          </a:xfrm>
          <a:prstGeom prst="rect">
            <a:avLst/>
          </a:prstGeom>
          <a:noFill/>
        </p:spPr>
        <p:txBody>
          <a:bodyPr wrap="square" anchor="ctr" lIns="45720" rIns="45720" tIns="27432" bIns="27432">
            <a:spAutoFit/>
          </a:bodyPr>
          <a:lstStyle/>
          <a:p>
            <a:pPr algn="l">
              <a:spcAft>
                <a:spcPts val="600"/>
              </a:spcAft>
            </a:pPr>
            <a:r>
              <a:rPr sz="1800" b="1" i="0">
                <a:solidFill>
                  <a:srgbClr val="0B7285"/>
                </a:solidFill>
                <a:latin typeface="Calibri"/>
              </a:rPr>
              <a:t>Measure</a:t>
            </a:r>
          </a:p>
        </p:txBody>
      </p:sp>
      <p:sp>
        <p:nvSpPr>
          <p:cNvPr id="10" name="TextBox 9"/>
          <p:cNvSpPr txBox="1"/>
          <p:nvPr/>
        </p:nvSpPr>
        <p:spPr>
          <a:xfrm>
            <a:off x="731520" y="3931920"/>
            <a:ext cx="2331720" cy="2240280"/>
          </a:xfrm>
          <a:prstGeom prst="rect">
            <a:avLst/>
          </a:prstGeom>
          <a:noFill/>
        </p:spPr>
        <p:txBody>
          <a:bodyPr wrap="square" anchor="t" lIns="45720" rIns="45720" tIns="27432" bIns="27432">
            <a:spAutoFit/>
          </a:bodyPr>
          <a:lstStyle/>
          <a:p>
            <a:pPr algn="l">
              <a:spcAft>
                <a:spcPts val="600"/>
              </a:spcAft>
            </a:pPr>
            <a:r>
              <a:rPr sz="1400" b="0" i="0">
                <a:solidFill>
                  <a:srgbClr val="1F2A2E"/>
                </a:solidFill>
                <a:latin typeface="Calibri"/>
              </a:rPr>
              <a:t>Each cache remembers what it dropped last. A miss on one of those is a miss that more memory would have avoided, costed at the measured time of a disk read or a database query.</a:t>
            </a:r>
          </a:p>
        </p:txBody>
      </p:sp>
      <p:sp>
        <p:nvSpPr>
          <p:cNvPr id="11" name="Rounded Rectangle 10"/>
          <p:cNvSpPr/>
          <p:nvPr/>
        </p:nvSpPr>
        <p:spPr>
          <a:xfrm>
            <a:off x="3355848" y="3200400"/>
            <a:ext cx="2651760" cy="301752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38728" y="3337560"/>
            <a:ext cx="457200" cy="45720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2</a:t>
            </a:r>
          </a:p>
        </p:txBody>
      </p:sp>
      <p:sp>
        <p:nvSpPr>
          <p:cNvPr id="13" name="TextBox 12"/>
          <p:cNvSpPr txBox="1"/>
          <p:nvPr/>
        </p:nvSpPr>
        <p:spPr>
          <a:xfrm>
            <a:off x="4087368" y="3337560"/>
            <a:ext cx="1828800" cy="457200"/>
          </a:xfrm>
          <a:prstGeom prst="rect">
            <a:avLst/>
          </a:prstGeom>
          <a:noFill/>
        </p:spPr>
        <p:txBody>
          <a:bodyPr wrap="square" anchor="ctr" lIns="45720" rIns="45720" tIns="27432" bIns="27432">
            <a:spAutoFit/>
          </a:bodyPr>
          <a:lstStyle/>
          <a:p>
            <a:pPr algn="l">
              <a:spcAft>
                <a:spcPts val="600"/>
              </a:spcAft>
            </a:pPr>
            <a:r>
              <a:rPr sz="1800" b="1" i="0">
                <a:solidFill>
                  <a:srgbClr val="0B7285"/>
                </a:solidFill>
                <a:latin typeface="Calibri"/>
              </a:rPr>
              <a:t>Learn</a:t>
            </a:r>
          </a:p>
        </p:txBody>
      </p:sp>
      <p:sp>
        <p:nvSpPr>
          <p:cNvPr id="14" name="TextBox 13"/>
          <p:cNvSpPr txBox="1"/>
          <p:nvPr/>
        </p:nvSpPr>
        <p:spPr>
          <a:xfrm>
            <a:off x="3538728" y="3931920"/>
            <a:ext cx="2331720" cy="2240280"/>
          </a:xfrm>
          <a:prstGeom prst="rect">
            <a:avLst/>
          </a:prstGeom>
          <a:noFill/>
        </p:spPr>
        <p:txBody>
          <a:bodyPr wrap="square" anchor="t" lIns="45720" rIns="45720" tIns="27432" bIns="27432">
            <a:spAutoFit/>
          </a:bodyPr>
          <a:lstStyle/>
          <a:p>
            <a:pPr algn="l">
              <a:spcAft>
                <a:spcPts val="600"/>
              </a:spcAft>
            </a:pPr>
            <a:r>
              <a:rPr sz="1400" b="0" i="0">
                <a:solidFill>
                  <a:srgbClr val="1F2A2E"/>
                </a:solidFill>
                <a:latin typeface="Calibri"/>
              </a:rPr>
              <a:t>scikit-learn LinearRegression: from which way the memory moved and which cache was short, to how much faster reads got afterwards.</a:t>
            </a:r>
          </a:p>
        </p:txBody>
      </p:sp>
      <p:sp>
        <p:nvSpPr>
          <p:cNvPr id="15" name="Rounded Rectangle 14"/>
          <p:cNvSpPr/>
          <p:nvPr/>
        </p:nvSpPr>
        <p:spPr>
          <a:xfrm>
            <a:off x="6163055" y="3200400"/>
            <a:ext cx="2651760" cy="301752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45936" y="3337560"/>
            <a:ext cx="457200" cy="45720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3</a:t>
            </a:r>
          </a:p>
        </p:txBody>
      </p:sp>
      <p:sp>
        <p:nvSpPr>
          <p:cNvPr id="17" name="TextBox 16"/>
          <p:cNvSpPr txBox="1"/>
          <p:nvPr/>
        </p:nvSpPr>
        <p:spPr>
          <a:xfrm>
            <a:off x="6894575" y="3337560"/>
            <a:ext cx="1828800" cy="457200"/>
          </a:xfrm>
          <a:prstGeom prst="rect">
            <a:avLst/>
          </a:prstGeom>
          <a:noFill/>
        </p:spPr>
        <p:txBody>
          <a:bodyPr wrap="square" anchor="ctr" lIns="45720" rIns="45720" tIns="27432" bIns="27432">
            <a:spAutoFit/>
          </a:bodyPr>
          <a:lstStyle/>
          <a:p>
            <a:pPr algn="l">
              <a:spcAft>
                <a:spcPts val="600"/>
              </a:spcAft>
            </a:pPr>
            <a:r>
              <a:rPr sz="1800" b="1" i="0">
                <a:solidFill>
                  <a:srgbClr val="0B7285"/>
                </a:solidFill>
                <a:latin typeface="Calibri"/>
              </a:rPr>
              <a:t>Decide</a:t>
            </a:r>
          </a:p>
        </p:txBody>
      </p:sp>
      <p:sp>
        <p:nvSpPr>
          <p:cNvPr id="18" name="TextBox 17"/>
          <p:cNvSpPr txBox="1"/>
          <p:nvPr/>
        </p:nvSpPr>
        <p:spPr>
          <a:xfrm>
            <a:off x="6345936" y="3931920"/>
            <a:ext cx="2331720" cy="2240280"/>
          </a:xfrm>
          <a:prstGeom prst="rect">
            <a:avLst/>
          </a:prstGeom>
          <a:noFill/>
        </p:spPr>
        <p:txBody>
          <a:bodyPr wrap="square" anchor="t" lIns="45720" rIns="45720" tIns="27432" bIns="27432">
            <a:spAutoFit/>
          </a:bodyPr>
          <a:lstStyle/>
          <a:p>
            <a:pPr algn="l">
              <a:spcAft>
                <a:spcPts val="600"/>
              </a:spcAft>
            </a:pPr>
            <a:r>
              <a:rPr sz="1400" b="0" i="0">
                <a:solidFill>
                  <a:srgbClr val="1F2A2E"/>
                </a:solidFill>
                <a:latin typeface="Calibri"/>
              </a:rPr>
              <a:t>Pick the move the line says is best. One time in ten, try a random move to keep learning.</a:t>
            </a:r>
          </a:p>
        </p:txBody>
      </p:sp>
      <p:sp>
        <p:nvSpPr>
          <p:cNvPr id="19" name="Rounded Rectangle 18"/>
          <p:cNvSpPr/>
          <p:nvPr/>
        </p:nvSpPr>
        <p:spPr>
          <a:xfrm>
            <a:off x="8970263" y="3200400"/>
            <a:ext cx="2651760" cy="301752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53143" y="3337560"/>
            <a:ext cx="457200" cy="45720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4</a:t>
            </a:r>
          </a:p>
        </p:txBody>
      </p:sp>
      <p:sp>
        <p:nvSpPr>
          <p:cNvPr id="21" name="TextBox 20"/>
          <p:cNvSpPr txBox="1"/>
          <p:nvPr/>
        </p:nvSpPr>
        <p:spPr>
          <a:xfrm>
            <a:off x="9701784" y="3337560"/>
            <a:ext cx="1828800" cy="457200"/>
          </a:xfrm>
          <a:prstGeom prst="rect">
            <a:avLst/>
          </a:prstGeom>
          <a:noFill/>
        </p:spPr>
        <p:txBody>
          <a:bodyPr wrap="square" anchor="ctr" lIns="45720" rIns="45720" tIns="27432" bIns="27432">
            <a:spAutoFit/>
          </a:bodyPr>
          <a:lstStyle/>
          <a:p>
            <a:pPr algn="l">
              <a:spcAft>
                <a:spcPts val="600"/>
              </a:spcAft>
            </a:pPr>
            <a:r>
              <a:rPr sz="1800" b="1" i="0">
                <a:solidFill>
                  <a:srgbClr val="0B7285"/>
                </a:solidFill>
                <a:latin typeface="Calibri"/>
              </a:rPr>
              <a:t>Remember</a:t>
            </a:r>
          </a:p>
        </p:txBody>
      </p:sp>
      <p:sp>
        <p:nvSpPr>
          <p:cNvPr id="22" name="TextBox 21"/>
          <p:cNvSpPr txBox="1"/>
          <p:nvPr/>
        </p:nvSpPr>
        <p:spPr>
          <a:xfrm>
            <a:off x="9153143" y="3931920"/>
            <a:ext cx="2331720" cy="2240280"/>
          </a:xfrm>
          <a:prstGeom prst="rect">
            <a:avLst/>
          </a:prstGeom>
          <a:noFill/>
        </p:spPr>
        <p:txBody>
          <a:bodyPr wrap="square" anchor="t" lIns="45720" rIns="45720" tIns="27432" bIns="27432">
            <a:spAutoFit/>
          </a:bodyPr>
          <a:lstStyle/>
          <a:p>
            <a:pPr algn="l">
              <a:spcAft>
                <a:spcPts val="600"/>
              </a:spcAft>
            </a:pPr>
            <a:r>
              <a:rPr sz="1400" b="0" i="0">
                <a:solidFill>
                  <a:srgbClr val="1F2A2E"/>
                </a:solidFill>
                <a:latin typeface="Calibri"/>
              </a:rPr>
              <a:t>Every review is stored in the SQLite table policy_log and shown to the model at the next mount.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Testing and error handling</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11</a:t>
            </a:r>
          </a:p>
        </p:txBody>
      </p:sp>
      <p:sp>
        <p:nvSpPr>
          <p:cNvPr id="4" name="Rounded Rectangle 3"/>
          <p:cNvSpPr/>
          <p:nvPr/>
        </p:nvSpPr>
        <p:spPr>
          <a:xfrm>
            <a:off x="548640" y="1508760"/>
            <a:ext cx="329184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72768"/>
            <a:ext cx="1371600" cy="1234440"/>
          </a:xfrm>
          <a:prstGeom prst="rect">
            <a:avLst/>
          </a:prstGeom>
          <a:noFill/>
        </p:spPr>
        <p:txBody>
          <a:bodyPr wrap="square" anchor="ctr" lIns="45720" rIns="45720" tIns="27432" bIns="27432">
            <a:spAutoFit/>
          </a:bodyPr>
          <a:lstStyle/>
          <a:p>
            <a:pPr algn="ctr">
              <a:spcAft>
                <a:spcPts val="600"/>
              </a:spcAft>
            </a:pPr>
            <a:r>
              <a:rPr sz="4400" b="1" i="0">
                <a:solidFill>
                  <a:srgbClr val="0B7285"/>
                </a:solidFill>
                <a:latin typeface="Cambria"/>
              </a:rPr>
              <a:t>57</a:t>
            </a:r>
          </a:p>
        </p:txBody>
      </p:sp>
      <p:sp>
        <p:nvSpPr>
          <p:cNvPr id="6" name="TextBox 5"/>
          <p:cNvSpPr txBox="1"/>
          <p:nvPr/>
        </p:nvSpPr>
        <p:spPr>
          <a:xfrm>
            <a:off x="2011680" y="1572768"/>
            <a:ext cx="1737360" cy="1234440"/>
          </a:xfrm>
          <a:prstGeom prst="rect">
            <a:avLst/>
          </a:prstGeom>
          <a:noFill/>
        </p:spPr>
        <p:txBody>
          <a:bodyPr wrap="square" anchor="ctr" lIns="45720" rIns="45720" tIns="27432" bIns="27432">
            <a:spAutoFit/>
          </a:bodyPr>
          <a:lstStyle/>
          <a:p>
            <a:pPr algn="l">
              <a:spcAft>
                <a:spcPts val="600"/>
              </a:spcAft>
            </a:pPr>
            <a:r>
              <a:rPr sz="1400" b="0" i="0">
                <a:solidFill>
                  <a:srgbClr val="1F2A2E"/>
                </a:solidFill>
                <a:latin typeface="Calibri"/>
              </a:rPr>
              <a:t>C++ test cases</a:t>
            </a:r>
          </a:p>
        </p:txBody>
      </p:sp>
      <p:sp>
        <p:nvSpPr>
          <p:cNvPr id="7" name="Rounded Rectangle 6"/>
          <p:cNvSpPr/>
          <p:nvPr/>
        </p:nvSpPr>
        <p:spPr>
          <a:xfrm>
            <a:off x="548640" y="3081528"/>
            <a:ext cx="329184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145536"/>
            <a:ext cx="1371600" cy="1234440"/>
          </a:xfrm>
          <a:prstGeom prst="rect">
            <a:avLst/>
          </a:prstGeom>
          <a:noFill/>
        </p:spPr>
        <p:txBody>
          <a:bodyPr wrap="square" anchor="ctr" lIns="45720" rIns="45720" tIns="27432" bIns="27432">
            <a:spAutoFit/>
          </a:bodyPr>
          <a:lstStyle/>
          <a:p>
            <a:pPr algn="ctr">
              <a:spcAft>
                <a:spcPts val="600"/>
              </a:spcAft>
            </a:pPr>
            <a:r>
              <a:rPr sz="4400" b="1" i="0">
                <a:solidFill>
                  <a:srgbClr val="0B7285"/>
                </a:solidFill>
                <a:latin typeface="Cambria"/>
              </a:rPr>
              <a:t>11</a:t>
            </a:r>
          </a:p>
        </p:txBody>
      </p:sp>
      <p:sp>
        <p:nvSpPr>
          <p:cNvPr id="9" name="TextBox 8"/>
          <p:cNvSpPr txBox="1"/>
          <p:nvPr/>
        </p:nvSpPr>
        <p:spPr>
          <a:xfrm>
            <a:off x="2011680" y="3145536"/>
            <a:ext cx="1737360" cy="1234440"/>
          </a:xfrm>
          <a:prstGeom prst="rect">
            <a:avLst/>
          </a:prstGeom>
          <a:noFill/>
        </p:spPr>
        <p:txBody>
          <a:bodyPr wrap="square" anchor="ctr" lIns="45720" rIns="45720" tIns="27432" bIns="27432">
            <a:spAutoFit/>
          </a:bodyPr>
          <a:lstStyle/>
          <a:p>
            <a:pPr algn="l">
              <a:spcAft>
                <a:spcPts val="600"/>
              </a:spcAft>
            </a:pPr>
            <a:r>
              <a:rPr sz="1400" b="0" i="0">
                <a:solidFill>
                  <a:srgbClr val="1F2A2E"/>
                </a:solidFill>
                <a:latin typeface="Calibri"/>
              </a:rPr>
              <a:t>Python test cases</a:t>
            </a:r>
          </a:p>
        </p:txBody>
      </p:sp>
      <p:sp>
        <p:nvSpPr>
          <p:cNvPr id="10" name="Rounded Rectangle 9"/>
          <p:cNvSpPr/>
          <p:nvPr/>
        </p:nvSpPr>
        <p:spPr>
          <a:xfrm>
            <a:off x="548640" y="4654296"/>
            <a:ext cx="329184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718304"/>
            <a:ext cx="1371600" cy="1234440"/>
          </a:xfrm>
          <a:prstGeom prst="rect">
            <a:avLst/>
          </a:prstGeom>
          <a:noFill/>
        </p:spPr>
        <p:txBody>
          <a:bodyPr wrap="square" anchor="ctr" lIns="45720" rIns="45720" tIns="27432" bIns="27432">
            <a:spAutoFit/>
          </a:bodyPr>
          <a:lstStyle/>
          <a:p>
            <a:pPr algn="ctr">
              <a:spcAft>
                <a:spcPts val="600"/>
              </a:spcAft>
            </a:pPr>
            <a:r>
              <a:rPr sz="4400" b="1" i="0">
                <a:solidFill>
                  <a:srgbClr val="0B7285"/>
                </a:solidFill>
                <a:latin typeface="Cambria"/>
              </a:rPr>
              <a:t>3</a:t>
            </a:r>
          </a:p>
        </p:txBody>
      </p:sp>
      <p:sp>
        <p:nvSpPr>
          <p:cNvPr id="12" name="TextBox 11"/>
          <p:cNvSpPr txBox="1"/>
          <p:nvPr/>
        </p:nvSpPr>
        <p:spPr>
          <a:xfrm>
            <a:off x="2011680" y="4718304"/>
            <a:ext cx="1737360" cy="1234440"/>
          </a:xfrm>
          <a:prstGeom prst="rect">
            <a:avLst/>
          </a:prstGeom>
          <a:noFill/>
        </p:spPr>
        <p:txBody>
          <a:bodyPr wrap="square" anchor="ctr" lIns="45720" rIns="45720" tIns="27432" bIns="27432">
            <a:spAutoFit/>
          </a:bodyPr>
          <a:lstStyle/>
          <a:p>
            <a:pPr algn="l">
              <a:spcAft>
                <a:spcPts val="600"/>
              </a:spcAft>
            </a:pPr>
            <a:r>
              <a:rPr sz="1400" b="0" i="0">
                <a:solidFill>
                  <a:srgbClr val="1F2A2E"/>
                </a:solidFill>
                <a:latin typeface="Calibri"/>
              </a:rPr>
              <a:t>versions run through the same filesystem tests</a:t>
            </a:r>
          </a:p>
        </p:txBody>
      </p:sp>
      <p:graphicFrame>
        <p:nvGraphicFramePr>
          <p:cNvPr id="13" name="Table 12"/>
          <p:cNvGraphicFramePr>
            <a:graphicFrameLocks noGrp="1"/>
          </p:cNvGraphicFramePr>
          <p:nvPr/>
        </p:nvGraphicFramePr>
        <p:xfrm>
          <a:off x="4206240" y="1508760"/>
          <a:ext cx="7406640" cy="4608576"/>
        </p:xfrm>
        <a:graphic>
          <a:graphicData uri="http://schemas.openxmlformats.org/drawingml/2006/table">
            <a:tbl>
              <a:tblPr firstRow="1" bandRow="1">
                <a:tableStyleId>{5C22544A-7EE6-4342-B048-85BDC9FD1C3A}</a:tableStyleId>
              </a:tblPr>
              <a:tblGrid>
                <a:gridCol w="3383280"/>
                <a:gridCol w="4023360"/>
              </a:tblGrid>
              <a:tr h="658368">
                <a:tc>
                  <a:txBody>
                    <a:bodyPr wrap="square"/>
                    <a:lstStyle/>
                    <a:p>
                      <a:r>
                        <a:rPr sz="1400" b="1">
                          <a:solidFill>
                            <a:srgbClr val="FFFFFF"/>
                          </a:solidFill>
                          <a:latin typeface="Calibri"/>
                        </a:rPr>
                        <a:t>What can go wrong</a:t>
                      </a:r>
                    </a:p>
                  </a:txBody>
                  <a:tcPr anchor="ctr" marL="91440" marR="91440">
                    <a:solidFill>
                      <a:srgbClr val="12343B"/>
                    </a:solidFill>
                  </a:tcPr>
                </a:tc>
                <a:tc>
                  <a:txBody>
                    <a:bodyPr wrap="square"/>
                    <a:lstStyle/>
                    <a:p>
                      <a:r>
                        <a:rPr sz="1400" b="1">
                          <a:solidFill>
                            <a:srgbClr val="FFFFFF"/>
                          </a:solidFill>
                          <a:latin typeface="Calibri"/>
                        </a:rPr>
                        <a:t>What happens</a:t>
                      </a:r>
                    </a:p>
                  </a:txBody>
                  <a:tcPr anchor="ctr" marL="91440" marR="91440">
                    <a:solidFill>
                      <a:srgbClr val="12343B"/>
                    </a:solidFill>
                  </a:tcPr>
                </a:tc>
              </a:tr>
              <a:tr h="658368">
                <a:tc>
                  <a:txBody>
                    <a:bodyPr wrap="square"/>
                    <a:lstStyle/>
                    <a:p>
                      <a:r>
                        <a:rPr sz="1400" b="1">
                          <a:solidFill>
                            <a:srgbClr val="1F2A2E"/>
                          </a:solidFill>
                          <a:latin typeface="Calibri"/>
                        </a:rPr>
                        <a:t>The image is full during a write</a:t>
                      </a:r>
                    </a:p>
                  </a:txBody>
                  <a:tcPr anchor="ctr" marL="91440" marR="91440">
                    <a:solidFill>
                      <a:srgbClr val="FFFFFF"/>
                    </a:solidFill>
                  </a:tcPr>
                </a:tc>
                <a:tc>
                  <a:txBody>
                    <a:bodyPr wrap="square"/>
                    <a:lstStyle/>
                    <a:p>
                      <a:r>
                        <a:rPr sz="1400" b="0">
                          <a:solidFill>
                            <a:srgbClr val="1F2A2E"/>
                          </a:solidFill>
                          <a:latin typeface="Calibri"/>
                        </a:rPr>
                        <a:t>The write fails with ENOSPC; metadata is rolled back</a:t>
                      </a:r>
                    </a:p>
                  </a:txBody>
                  <a:tcPr anchor="ctr" marL="91440" marR="91440">
                    <a:solidFill>
                      <a:srgbClr val="FFFFFF"/>
                    </a:solidFill>
                  </a:tcPr>
                </a:tc>
              </a:tr>
              <a:tr h="658368">
                <a:tc>
                  <a:txBody>
                    <a:bodyPr wrap="square"/>
                    <a:lstStyle/>
                    <a:p>
                      <a:r>
                        <a:rPr sz="1400" b="1">
                          <a:solidFill>
                            <a:srgbClr val="1F2A2E"/>
                          </a:solidFill>
                          <a:latin typeface="Calibri"/>
                        </a:rPr>
                        <a:t>A file is missing or a path is bad</a:t>
                      </a:r>
                    </a:p>
                  </a:txBody>
                  <a:tcPr anchor="ctr" marL="91440" marR="91440">
                    <a:solidFill>
                      <a:srgbClr val="F6F8F8"/>
                    </a:solidFill>
                  </a:tcPr>
                </a:tc>
                <a:tc>
                  <a:txBody>
                    <a:bodyPr wrap="square"/>
                    <a:lstStyle/>
                    <a:p>
                      <a:r>
                        <a:rPr sz="1400" b="0">
                          <a:solidFill>
                            <a:srgbClr val="1F2A2E"/>
                          </a:solidFill>
                          <a:latin typeface="Calibri"/>
                        </a:rPr>
                        <a:t>The matching errno is returned to the program</a:t>
                      </a:r>
                    </a:p>
                  </a:txBody>
                  <a:tcPr anchor="ctr" marL="91440" marR="91440">
                    <a:solidFill>
                      <a:srgbClr val="F6F8F8"/>
                    </a:solidFill>
                  </a:tcPr>
                </a:tc>
              </a:tr>
              <a:tr h="658368">
                <a:tc>
                  <a:txBody>
                    <a:bodyPr wrap="square"/>
                    <a:lstStyle/>
                    <a:p>
                      <a:r>
                        <a:rPr sz="1400" b="1">
                          <a:solidFill>
                            <a:srgbClr val="1F2A2E"/>
                          </a:solidFill>
                          <a:latin typeface="Calibri"/>
                        </a:rPr>
                        <a:t>The model cannot be started</a:t>
                      </a:r>
                    </a:p>
                  </a:txBody>
                  <a:tcPr anchor="ctr" marL="91440" marR="91440">
                    <a:solidFill>
                      <a:srgbClr val="FFFFFF"/>
                    </a:solidFill>
                  </a:tcPr>
                </a:tc>
                <a:tc>
                  <a:txBody>
                    <a:bodyPr wrap="square"/>
                    <a:lstStyle/>
                    <a:p>
                      <a:r>
                        <a:rPr sz="1400" b="0">
                          <a:solidFill>
                            <a:srgbClr val="1F2A2E"/>
                          </a:solidFill>
                          <a:latin typeface="Calibri"/>
                        </a:rPr>
                        <a:t>Mounting version C stops with a clear error</a:t>
                      </a:r>
                    </a:p>
                  </a:txBody>
                  <a:tcPr anchor="ctr" marL="91440" marR="91440">
                    <a:solidFill>
                      <a:srgbClr val="FFFFFF"/>
                    </a:solidFill>
                  </a:tcPr>
                </a:tc>
              </a:tr>
              <a:tr h="658368">
                <a:tc>
                  <a:txBody>
                    <a:bodyPr wrap="square"/>
                    <a:lstStyle/>
                    <a:p>
                      <a:r>
                        <a:rPr sz="1400" b="1">
                          <a:solidFill>
                            <a:srgbClr val="1F2A2E"/>
                          </a:solidFill>
                          <a:latin typeface="Calibri"/>
                        </a:rPr>
                        <a:t>The model dies while running</a:t>
                      </a:r>
                    </a:p>
                  </a:txBody>
                  <a:tcPr anchor="ctr" marL="91440" marR="91440">
                    <a:solidFill>
                      <a:srgbClr val="F6F8F8"/>
                    </a:solidFill>
                  </a:tcPr>
                </a:tc>
                <a:tc>
                  <a:txBody>
                    <a:bodyPr wrap="square"/>
                    <a:lstStyle/>
                    <a:p>
                      <a:r>
                        <a:rPr sz="1400" b="0">
                          <a:solidFill>
                            <a:srgbClr val="1F2A2E"/>
                          </a:solidFill>
                          <a:latin typeface="Calibri"/>
                        </a:rPr>
                        <a:t>The filesystem carries on with the last tree</a:t>
                      </a:r>
                    </a:p>
                  </a:txBody>
                  <a:tcPr anchor="ctr" marL="91440" marR="91440">
                    <a:solidFill>
                      <a:srgbClr val="F6F8F8"/>
                    </a:solidFill>
                  </a:tcPr>
                </a:tc>
              </a:tr>
              <a:tr h="658368">
                <a:tc>
                  <a:txBody>
                    <a:bodyPr wrap="square"/>
                    <a:lstStyle/>
                    <a:p>
                      <a:r>
                        <a:rPr sz="1400" b="1">
                          <a:solidFill>
                            <a:srgbClr val="1F2A2E"/>
                          </a:solidFill>
                          <a:latin typeface="Calibri"/>
                        </a:rPr>
                        <a:t>The model sends a bad tree or split</a:t>
                      </a:r>
                    </a:p>
                  </a:txBody>
                  <a:tcPr anchor="ctr" marL="91440" marR="91440">
                    <a:solidFill>
                      <a:srgbClr val="FFFFFF"/>
                    </a:solidFill>
                  </a:tcPr>
                </a:tc>
                <a:tc>
                  <a:txBody>
                    <a:bodyPr wrap="square"/>
                    <a:lstStyle/>
                    <a:p>
                      <a:r>
                        <a:rPr sz="1400" b="0">
                          <a:solidFill>
                            <a:srgbClr val="1F2A2E"/>
                          </a:solidFill>
                          <a:latin typeface="Calibri"/>
                        </a:rPr>
                        <a:t>It is ignored</a:t>
                      </a:r>
                    </a:p>
                  </a:txBody>
                  <a:tcPr anchor="ctr" marL="91440" marR="91440">
                    <a:solidFill>
                      <a:srgbClr val="FFFFFF"/>
                    </a:solidFill>
                  </a:tcPr>
                </a:tc>
              </a:tr>
              <a:tr h="658368">
                <a:tc>
                  <a:txBody>
                    <a:bodyPr wrap="square"/>
                    <a:lstStyle/>
                    <a:p>
                      <a:r>
                        <a:rPr sz="1400" b="1">
                          <a:solidFill>
                            <a:srgbClr val="1F2A2E"/>
                          </a:solidFill>
                          <a:latin typeface="Calibri"/>
                        </a:rPr>
                        <a:t>A predicted block does not exist</a:t>
                      </a:r>
                    </a:p>
                  </a:txBody>
                  <a:tcPr anchor="ctr" marL="91440" marR="91440">
                    <a:solidFill>
                      <a:srgbClr val="F6F8F8"/>
                    </a:solidFill>
                  </a:tcPr>
                </a:tc>
                <a:tc>
                  <a:txBody>
                    <a:bodyPr wrap="square"/>
                    <a:lstStyle/>
                    <a:p>
                      <a:r>
                        <a:rPr sz="1400" b="0">
                          <a:solidFill>
                            <a:srgbClr val="1F2A2E"/>
                          </a:solidFill>
                          <a:latin typeface="Calibri"/>
                        </a:rPr>
                        <a:t>The prediction is dropped</a:t>
                      </a:r>
                    </a:p>
                  </a:txBody>
                  <a:tcPr anchor="ctr" marL="91440" marR="91440">
                    <a:solidFill>
                      <a:srgbClr val="F6F8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Demonstration</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12</a:t>
            </a:r>
          </a:p>
        </p:txBody>
      </p:sp>
      <p:sp>
        <p:nvSpPr>
          <p:cNvPr id="4" name="Oval 3"/>
          <p:cNvSpPr/>
          <p:nvPr/>
        </p:nvSpPr>
        <p:spPr>
          <a:xfrm>
            <a:off x="548640" y="1719072"/>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1</a:t>
            </a:r>
          </a:p>
        </p:txBody>
      </p:sp>
      <p:sp>
        <p:nvSpPr>
          <p:cNvPr id="5" name="TextBox 4"/>
          <p:cNvSpPr txBox="1"/>
          <p:nvPr/>
        </p:nvSpPr>
        <p:spPr>
          <a:xfrm>
            <a:off x="1234440" y="1508760"/>
            <a:ext cx="3566160" cy="1005840"/>
          </a:xfrm>
          <a:prstGeom prst="rect">
            <a:avLst/>
          </a:prstGeom>
          <a:noFill/>
        </p:spPr>
        <p:txBody>
          <a:bodyPr wrap="square" anchor="ctr" lIns="45720" rIns="45720" tIns="27432" bIns="27432">
            <a:spAutoFit/>
          </a:bodyPr>
          <a:lstStyle/>
          <a:p>
            <a:pPr algn="l">
              <a:spcAft>
                <a:spcPts val="600"/>
              </a:spcAft>
            </a:pPr>
            <a:r>
              <a:rPr sz="1800" b="1" i="0">
                <a:solidFill>
                  <a:srgbClr val="12343B"/>
                </a:solidFill>
                <a:latin typeface="Calibri"/>
              </a:rPr>
              <a:t>Create and mount</a:t>
            </a:r>
          </a:p>
        </p:txBody>
      </p:sp>
      <p:sp>
        <p:nvSpPr>
          <p:cNvPr id="6" name="Rounded Rectangle 5"/>
          <p:cNvSpPr/>
          <p:nvPr/>
        </p:nvSpPr>
        <p:spPr>
          <a:xfrm>
            <a:off x="4846320" y="1463040"/>
            <a:ext cx="6766560" cy="105156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83480" y="1536192"/>
            <a:ext cx="6492240" cy="914400"/>
          </a:xfrm>
          <a:prstGeom prst="rect">
            <a:avLst/>
          </a:prstGeom>
          <a:noFill/>
        </p:spPr>
        <p:txBody>
          <a:bodyPr wrap="square" anchor="ctr" lIns="45720" rIns="45720" tIns="27432" bIns="27432">
            <a:spAutoFit/>
          </a:bodyPr>
          <a:lstStyle/>
          <a:p>
            <a:pPr algn="l">
              <a:spcAft>
                <a:spcPts val="300"/>
              </a:spcAft>
            </a:pPr>
            <a:r>
              <a:rPr sz="1300" b="0" i="0">
                <a:solidFill>
                  <a:srgbClr val="1F2A2E"/>
                </a:solidFill>
                <a:latin typeface="Courier New"/>
              </a:rPr>
              <a:t>build/ai_fs format disk.img disk.db 25600</a:t>
            </a:r>
          </a:p>
          <a:p>
            <a:pPr algn="l">
              <a:spcAft>
                <a:spcPts val="300"/>
              </a:spcAft>
            </a:pPr>
            <a:r>
              <a:rPr sz="1300" b="0" i="0">
                <a:solidFill>
                  <a:srgbClr val="1F2A2E"/>
                </a:solidFill>
                <a:latin typeface="Courier New"/>
              </a:rPr>
              <a:t>build/ai_fs mount disk.img disk.db mnt -f &amp;</a:t>
            </a:r>
          </a:p>
        </p:txBody>
      </p:sp>
      <p:sp>
        <p:nvSpPr>
          <p:cNvPr id="8" name="Oval 7"/>
          <p:cNvSpPr/>
          <p:nvPr/>
        </p:nvSpPr>
        <p:spPr>
          <a:xfrm>
            <a:off x="548640" y="2926080"/>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2</a:t>
            </a:r>
          </a:p>
        </p:txBody>
      </p:sp>
      <p:sp>
        <p:nvSpPr>
          <p:cNvPr id="9" name="TextBox 8"/>
          <p:cNvSpPr txBox="1"/>
          <p:nvPr/>
        </p:nvSpPr>
        <p:spPr>
          <a:xfrm>
            <a:off x="1234440" y="2715768"/>
            <a:ext cx="3566160" cy="1005840"/>
          </a:xfrm>
          <a:prstGeom prst="rect">
            <a:avLst/>
          </a:prstGeom>
          <a:noFill/>
        </p:spPr>
        <p:txBody>
          <a:bodyPr wrap="square" anchor="ctr" lIns="45720" rIns="45720" tIns="27432" bIns="27432">
            <a:spAutoFit/>
          </a:bodyPr>
          <a:lstStyle/>
          <a:p>
            <a:pPr algn="l">
              <a:spcAft>
                <a:spcPts val="600"/>
              </a:spcAft>
            </a:pPr>
            <a:r>
              <a:rPr sz="1800" b="1" i="0">
                <a:solidFill>
                  <a:srgbClr val="12343B"/>
                </a:solidFill>
                <a:latin typeface="Calibri"/>
              </a:rPr>
              <a:t>Use it like any folder</a:t>
            </a:r>
          </a:p>
        </p:txBody>
      </p:sp>
      <p:sp>
        <p:nvSpPr>
          <p:cNvPr id="10" name="Rounded Rectangle 9"/>
          <p:cNvSpPr/>
          <p:nvPr/>
        </p:nvSpPr>
        <p:spPr>
          <a:xfrm>
            <a:off x="4846320" y="2670048"/>
            <a:ext cx="6766560" cy="105156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743200"/>
            <a:ext cx="6492240" cy="914400"/>
          </a:xfrm>
          <a:prstGeom prst="rect">
            <a:avLst/>
          </a:prstGeom>
          <a:noFill/>
        </p:spPr>
        <p:txBody>
          <a:bodyPr wrap="square" anchor="ctr" lIns="45720" rIns="45720" tIns="27432" bIns="27432">
            <a:spAutoFit/>
          </a:bodyPr>
          <a:lstStyle/>
          <a:p>
            <a:pPr algn="l">
              <a:spcAft>
                <a:spcPts val="300"/>
              </a:spcAft>
            </a:pPr>
            <a:r>
              <a:rPr sz="1300" b="0" i="0">
                <a:solidFill>
                  <a:srgbClr val="1F2A2E"/>
                </a:solidFill>
                <a:latin typeface="Courier New"/>
              </a:rPr>
              <a:t>cp big.bin mnt/ ;  ls -l mnt ;  cat mnt/note.txt</a:t>
            </a:r>
          </a:p>
          <a:p>
            <a:pPr algn="l">
              <a:spcAft>
                <a:spcPts val="300"/>
              </a:spcAft>
            </a:pPr>
            <a:r>
              <a:rPr sz="1300" b="0" i="0">
                <a:solidFill>
                  <a:srgbClr val="1F2A2E"/>
                </a:solidFill>
                <a:latin typeface="Courier New"/>
              </a:rPr>
              <a:t>cmp big.bin mnt/big.bin</a:t>
            </a:r>
          </a:p>
        </p:txBody>
      </p:sp>
      <p:sp>
        <p:nvSpPr>
          <p:cNvPr id="12" name="Oval 11"/>
          <p:cNvSpPr/>
          <p:nvPr/>
        </p:nvSpPr>
        <p:spPr>
          <a:xfrm>
            <a:off x="548640" y="4133088"/>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3</a:t>
            </a:r>
          </a:p>
        </p:txBody>
      </p:sp>
      <p:sp>
        <p:nvSpPr>
          <p:cNvPr id="13" name="TextBox 12"/>
          <p:cNvSpPr txBox="1"/>
          <p:nvPr/>
        </p:nvSpPr>
        <p:spPr>
          <a:xfrm>
            <a:off x="1234440" y="3922776"/>
            <a:ext cx="3566160" cy="1005840"/>
          </a:xfrm>
          <a:prstGeom prst="rect">
            <a:avLst/>
          </a:prstGeom>
          <a:noFill/>
        </p:spPr>
        <p:txBody>
          <a:bodyPr wrap="square" anchor="ctr" lIns="45720" rIns="45720" tIns="27432" bIns="27432">
            <a:spAutoFit/>
          </a:bodyPr>
          <a:lstStyle/>
          <a:p>
            <a:pPr algn="l">
              <a:spcAft>
                <a:spcPts val="600"/>
              </a:spcAft>
            </a:pPr>
            <a:r>
              <a:rPr sz="1800" b="1" i="0">
                <a:solidFill>
                  <a:srgbClr val="12343B"/>
                </a:solidFill>
                <a:latin typeface="Calibri"/>
              </a:rPr>
              <a:t>Read, unmount, see the model's work</a:t>
            </a:r>
          </a:p>
        </p:txBody>
      </p:sp>
      <p:sp>
        <p:nvSpPr>
          <p:cNvPr id="14" name="Rounded Rectangle 13"/>
          <p:cNvSpPr/>
          <p:nvPr/>
        </p:nvSpPr>
        <p:spPr>
          <a:xfrm>
            <a:off x="4846320" y="3877056"/>
            <a:ext cx="6766560" cy="105156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3480" y="3950208"/>
            <a:ext cx="6492240" cy="914400"/>
          </a:xfrm>
          <a:prstGeom prst="rect">
            <a:avLst/>
          </a:prstGeom>
          <a:noFill/>
        </p:spPr>
        <p:txBody>
          <a:bodyPr wrap="square" anchor="ctr" lIns="45720" rIns="45720" tIns="27432" bIns="27432">
            <a:spAutoFit/>
          </a:bodyPr>
          <a:lstStyle/>
          <a:p>
            <a:pPr algn="l">
              <a:spcAft>
                <a:spcPts val="300"/>
              </a:spcAft>
            </a:pPr>
            <a:r>
              <a:rPr sz="1300" b="0" i="0">
                <a:solidFill>
                  <a:srgbClr val="1F2A2E"/>
                </a:solidFill>
                <a:latin typeface="Courier New"/>
              </a:rPr>
              <a:t>cat mnt/big.bin &gt; /dev/null ;  fusermount3 -u mnt</a:t>
            </a:r>
          </a:p>
          <a:p>
            <a:pPr algn="l">
              <a:spcAft>
                <a:spcPts val="300"/>
              </a:spcAft>
            </a:pPr>
            <a:r>
              <a:rPr sz="1300" b="0" i="0">
                <a:solidFill>
                  <a:srgbClr val="1F2A2E"/>
                </a:solidFill>
                <a:latin typeface="Courier New"/>
              </a:rPr>
              <a:t>prefetched 3848 (used 3848, wasted 0)</a:t>
            </a:r>
          </a:p>
        </p:txBody>
      </p:sp>
      <p:sp>
        <p:nvSpPr>
          <p:cNvPr id="16" name="Oval 15"/>
          <p:cNvSpPr/>
          <p:nvPr/>
        </p:nvSpPr>
        <p:spPr>
          <a:xfrm>
            <a:off x="548640" y="5340096"/>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4</a:t>
            </a:r>
          </a:p>
        </p:txBody>
      </p:sp>
      <p:sp>
        <p:nvSpPr>
          <p:cNvPr id="17" name="TextBox 16"/>
          <p:cNvSpPr txBox="1"/>
          <p:nvPr/>
        </p:nvSpPr>
        <p:spPr>
          <a:xfrm>
            <a:off x="1234440" y="5129784"/>
            <a:ext cx="3566160" cy="1005840"/>
          </a:xfrm>
          <a:prstGeom prst="rect">
            <a:avLst/>
          </a:prstGeom>
          <a:noFill/>
        </p:spPr>
        <p:txBody>
          <a:bodyPr wrap="square" anchor="ctr" lIns="45720" rIns="45720" tIns="27432" bIns="27432">
            <a:spAutoFit/>
          </a:bodyPr>
          <a:lstStyle/>
          <a:p>
            <a:pPr algn="l">
              <a:spcAft>
                <a:spcPts val="600"/>
              </a:spcAft>
            </a:pPr>
            <a:r>
              <a:rPr sz="1800" b="1" i="0">
                <a:solidFill>
                  <a:srgbClr val="12343B"/>
                </a:solidFill>
                <a:latin typeface="Calibri"/>
              </a:rPr>
              <a:t>Compare the three versions</a:t>
            </a:r>
          </a:p>
        </p:txBody>
      </p:sp>
      <p:sp>
        <p:nvSpPr>
          <p:cNvPr id="18" name="Rounded Rectangle 17"/>
          <p:cNvSpPr/>
          <p:nvPr/>
        </p:nvSpPr>
        <p:spPr>
          <a:xfrm>
            <a:off x="4846320" y="5084064"/>
            <a:ext cx="6766560" cy="105156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83480" y="5157216"/>
            <a:ext cx="6492240" cy="914400"/>
          </a:xfrm>
          <a:prstGeom prst="rect">
            <a:avLst/>
          </a:prstGeom>
          <a:noFill/>
        </p:spPr>
        <p:txBody>
          <a:bodyPr wrap="square" anchor="ctr" lIns="45720" rIns="45720" tIns="27432" bIns="27432">
            <a:spAutoFit/>
          </a:bodyPr>
          <a:lstStyle/>
          <a:p>
            <a:pPr algn="l">
              <a:spcAft>
                <a:spcPts val="300"/>
              </a:spcAft>
            </a:pPr>
            <a:r>
              <a:rPr sz="1300" b="0" i="0">
                <a:solidFill>
                  <a:srgbClr val="1F2A2E"/>
                </a:solidFill>
                <a:latin typeface="Courier New"/>
              </a:rPr>
              <a:t>ai_fs_bench A sequential ;  ... B ... ;  ... C ...</a:t>
            </a:r>
          </a:p>
        </p:txBody>
      </p:sp>
      <p:sp>
        <p:nvSpPr>
          <p:cNvPr id="20" name="TextBox 19"/>
          <p:cNvSpPr txBox="1"/>
          <p:nvPr/>
        </p:nvSpPr>
        <p:spPr>
          <a:xfrm>
            <a:off x="548640" y="6309360"/>
            <a:ext cx="10058400" cy="320040"/>
          </a:xfrm>
          <a:prstGeom prst="rect">
            <a:avLst/>
          </a:prstGeom>
          <a:noFill/>
        </p:spPr>
        <p:txBody>
          <a:bodyPr wrap="square" anchor="t" lIns="45720" rIns="45720" tIns="27432" bIns="27432">
            <a:spAutoFit/>
          </a:bodyPr>
          <a:lstStyle/>
          <a:p>
            <a:pPr algn="l">
              <a:spcAft>
                <a:spcPts val="600"/>
              </a:spcAft>
            </a:pPr>
            <a:r>
              <a:rPr sz="1200" b="0" i="0">
                <a:solidFill>
                  <a:srgbClr val="5C6B70"/>
                </a:solidFill>
                <a:latin typeface="Calibri"/>
              </a:rPr>
              <a:t>The statistics line is from our rehearsal run; the numbers vary slightly from run to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Performance evaluation: setup</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13</a:t>
            </a:r>
          </a:p>
        </p:txBody>
      </p:sp>
      <p:sp>
        <p:nvSpPr>
          <p:cNvPr id="4" name="Rounded Rectangle 3"/>
          <p:cNvSpPr/>
          <p:nvPr/>
        </p:nvSpPr>
        <p:spPr>
          <a:xfrm>
            <a:off x="548640" y="1508760"/>
            <a:ext cx="2651760" cy="173736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2468880" cy="822960"/>
          </a:xfrm>
          <a:prstGeom prst="rect">
            <a:avLst/>
          </a:prstGeom>
          <a:noFill/>
        </p:spPr>
        <p:txBody>
          <a:bodyPr wrap="square" anchor="ctr" lIns="45720" rIns="45720" tIns="27432" bIns="27432">
            <a:spAutoFit/>
          </a:bodyPr>
          <a:lstStyle/>
          <a:p>
            <a:pPr algn="ctr">
              <a:spcAft>
                <a:spcPts val="600"/>
              </a:spcAft>
            </a:pPr>
            <a:r>
              <a:rPr sz="3400" b="1" i="0">
                <a:solidFill>
                  <a:srgbClr val="0B7285"/>
                </a:solidFill>
                <a:latin typeface="Cambria"/>
              </a:rPr>
              <a:t>16 MiB</a:t>
            </a:r>
          </a:p>
        </p:txBody>
      </p:sp>
      <p:sp>
        <p:nvSpPr>
          <p:cNvPr id="6" name="TextBox 5"/>
          <p:cNvSpPr txBox="1"/>
          <p:nvPr/>
        </p:nvSpPr>
        <p:spPr>
          <a:xfrm>
            <a:off x="685800" y="2423160"/>
            <a:ext cx="2377440" cy="777240"/>
          </a:xfrm>
          <a:prstGeom prst="rect">
            <a:avLst/>
          </a:prstGeom>
          <a:noFill/>
        </p:spPr>
        <p:txBody>
          <a:bodyPr wrap="square" anchor="t" lIns="45720" rIns="45720" tIns="27432" bIns="27432">
            <a:spAutoFit/>
          </a:bodyPr>
          <a:lstStyle/>
          <a:p>
            <a:pPr algn="ctr">
              <a:spcAft>
                <a:spcPts val="600"/>
              </a:spcAft>
            </a:pPr>
            <a:r>
              <a:rPr sz="1400" b="0" i="0">
                <a:solidFill>
                  <a:srgbClr val="1F2A2E"/>
                </a:solidFill>
                <a:latin typeface="Calibri"/>
              </a:rPr>
              <a:t>of file data: 8 files of 512 blocks</a:t>
            </a:r>
          </a:p>
        </p:txBody>
      </p:sp>
      <p:sp>
        <p:nvSpPr>
          <p:cNvPr id="7" name="Rounded Rectangle 6"/>
          <p:cNvSpPr/>
          <p:nvPr/>
        </p:nvSpPr>
        <p:spPr>
          <a:xfrm>
            <a:off x="3355848" y="1508760"/>
            <a:ext cx="2651760" cy="173736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7288" y="1600200"/>
            <a:ext cx="2468880" cy="822960"/>
          </a:xfrm>
          <a:prstGeom prst="rect">
            <a:avLst/>
          </a:prstGeom>
          <a:noFill/>
        </p:spPr>
        <p:txBody>
          <a:bodyPr wrap="square" anchor="ctr" lIns="45720" rIns="45720" tIns="27432" bIns="27432">
            <a:spAutoFit/>
          </a:bodyPr>
          <a:lstStyle/>
          <a:p>
            <a:pPr algn="ctr">
              <a:spcAft>
                <a:spcPts val="600"/>
              </a:spcAft>
            </a:pPr>
            <a:r>
              <a:rPr sz="3400" b="1" i="0">
                <a:solidFill>
                  <a:srgbClr val="0B7285"/>
                </a:solidFill>
                <a:latin typeface="Cambria"/>
              </a:rPr>
              <a:t>1 MiB</a:t>
            </a:r>
          </a:p>
        </p:txBody>
      </p:sp>
      <p:sp>
        <p:nvSpPr>
          <p:cNvPr id="9" name="TextBox 8"/>
          <p:cNvSpPr txBox="1"/>
          <p:nvPr/>
        </p:nvSpPr>
        <p:spPr>
          <a:xfrm>
            <a:off x="3493008" y="2423160"/>
            <a:ext cx="2377440" cy="777240"/>
          </a:xfrm>
          <a:prstGeom prst="rect">
            <a:avLst/>
          </a:prstGeom>
          <a:noFill/>
        </p:spPr>
        <p:txBody>
          <a:bodyPr wrap="square" anchor="t" lIns="45720" rIns="45720" tIns="27432" bIns="27432">
            <a:spAutoFit/>
          </a:bodyPr>
          <a:lstStyle/>
          <a:p>
            <a:pPr algn="ctr">
              <a:spcAft>
                <a:spcPts val="600"/>
              </a:spcAft>
            </a:pPr>
            <a:r>
              <a:rPr sz="1400" b="0" i="0">
                <a:solidFill>
                  <a:srgbClr val="1F2A2E"/>
                </a:solidFill>
                <a:latin typeface="Calibri"/>
              </a:rPr>
              <a:t>cache budget, about 6% of the data</a:t>
            </a:r>
          </a:p>
        </p:txBody>
      </p:sp>
      <p:sp>
        <p:nvSpPr>
          <p:cNvPr id="10" name="Rounded Rectangle 9"/>
          <p:cNvSpPr/>
          <p:nvPr/>
        </p:nvSpPr>
        <p:spPr>
          <a:xfrm>
            <a:off x="6163055" y="1508760"/>
            <a:ext cx="2651760" cy="173736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54495" y="1600200"/>
            <a:ext cx="2468880" cy="822960"/>
          </a:xfrm>
          <a:prstGeom prst="rect">
            <a:avLst/>
          </a:prstGeom>
          <a:noFill/>
        </p:spPr>
        <p:txBody>
          <a:bodyPr wrap="square" anchor="ctr" lIns="45720" rIns="45720" tIns="27432" bIns="27432">
            <a:spAutoFit/>
          </a:bodyPr>
          <a:lstStyle/>
          <a:p>
            <a:pPr algn="ctr">
              <a:spcAft>
                <a:spcPts val="600"/>
              </a:spcAft>
            </a:pPr>
            <a:r>
              <a:rPr sz="3400" b="1" i="0">
                <a:solidFill>
                  <a:srgbClr val="0B7285"/>
                </a:solidFill>
                <a:latin typeface="Cambria"/>
              </a:rPr>
              <a:t>8,192</a:t>
            </a:r>
          </a:p>
        </p:txBody>
      </p:sp>
      <p:sp>
        <p:nvSpPr>
          <p:cNvPr id="12" name="TextBox 11"/>
          <p:cNvSpPr txBox="1"/>
          <p:nvPr/>
        </p:nvSpPr>
        <p:spPr>
          <a:xfrm>
            <a:off x="6300216" y="2423160"/>
            <a:ext cx="2377440" cy="777240"/>
          </a:xfrm>
          <a:prstGeom prst="rect">
            <a:avLst/>
          </a:prstGeom>
          <a:noFill/>
        </p:spPr>
        <p:txBody>
          <a:bodyPr wrap="square" anchor="t" lIns="45720" rIns="45720" tIns="27432" bIns="27432">
            <a:spAutoFit/>
          </a:bodyPr>
          <a:lstStyle/>
          <a:p>
            <a:pPr algn="ctr">
              <a:spcAft>
                <a:spcPts val="600"/>
              </a:spcAft>
            </a:pPr>
            <a:r>
              <a:rPr sz="1400" b="0" i="0">
                <a:solidFill>
                  <a:srgbClr val="1F2A2E"/>
                </a:solidFill>
                <a:latin typeface="Calibri"/>
              </a:rPr>
              <a:t>block operations in each run</a:t>
            </a:r>
          </a:p>
        </p:txBody>
      </p:sp>
      <p:sp>
        <p:nvSpPr>
          <p:cNvPr id="13" name="Rounded Rectangle 12"/>
          <p:cNvSpPr/>
          <p:nvPr/>
        </p:nvSpPr>
        <p:spPr>
          <a:xfrm>
            <a:off x="8970263" y="1508760"/>
            <a:ext cx="2651760" cy="173736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61703" y="1600200"/>
            <a:ext cx="2468880" cy="822960"/>
          </a:xfrm>
          <a:prstGeom prst="rect">
            <a:avLst/>
          </a:prstGeom>
          <a:noFill/>
        </p:spPr>
        <p:txBody>
          <a:bodyPr wrap="square" anchor="ctr" lIns="45720" rIns="45720" tIns="27432" bIns="27432">
            <a:spAutoFit/>
          </a:bodyPr>
          <a:lstStyle/>
          <a:p>
            <a:pPr algn="ctr">
              <a:spcAft>
                <a:spcPts val="600"/>
              </a:spcAft>
            </a:pPr>
            <a:r>
              <a:rPr sz="3400" b="1" i="0">
                <a:solidFill>
                  <a:srgbClr val="0B7285"/>
                </a:solidFill>
                <a:latin typeface="Cambria"/>
              </a:rPr>
              <a:t>72</a:t>
            </a:r>
          </a:p>
        </p:txBody>
      </p:sp>
      <p:sp>
        <p:nvSpPr>
          <p:cNvPr id="15" name="TextBox 14"/>
          <p:cNvSpPr txBox="1"/>
          <p:nvPr/>
        </p:nvSpPr>
        <p:spPr>
          <a:xfrm>
            <a:off x="9107424" y="2423160"/>
            <a:ext cx="2377440" cy="777240"/>
          </a:xfrm>
          <a:prstGeom prst="rect">
            <a:avLst/>
          </a:prstGeom>
          <a:noFill/>
        </p:spPr>
        <p:txBody>
          <a:bodyPr wrap="square" anchor="t" lIns="45720" rIns="45720" tIns="27432" bIns="27432">
            <a:spAutoFit/>
          </a:bodyPr>
          <a:lstStyle/>
          <a:p>
            <a:pPr algn="ctr">
              <a:spcAft>
                <a:spcPts val="600"/>
              </a:spcAft>
            </a:pPr>
            <a:r>
              <a:rPr sz="1400" b="0" i="0">
                <a:solidFill>
                  <a:srgbClr val="1F2A2E"/>
                </a:solidFill>
                <a:latin typeface="Calibri"/>
              </a:rPr>
              <a:t>runs: 3 versions x 4 workloads x 2 think times x 3 seeds</a:t>
            </a:r>
          </a:p>
        </p:txBody>
      </p:sp>
      <p:graphicFrame>
        <p:nvGraphicFramePr>
          <p:cNvPr id="16" name="Table 15"/>
          <p:cNvGraphicFramePr>
            <a:graphicFrameLocks noGrp="1"/>
          </p:cNvGraphicFramePr>
          <p:nvPr/>
        </p:nvGraphicFramePr>
        <p:xfrm>
          <a:off x="548640" y="3611880"/>
          <a:ext cx="11064240" cy="2286000"/>
        </p:xfrm>
        <a:graphic>
          <a:graphicData uri="http://schemas.openxmlformats.org/drawingml/2006/table">
            <a:tbl>
              <a:tblPr firstRow="1" bandRow="1">
                <a:tableStyleId>{5C22544A-7EE6-4342-B048-85BDC9FD1C3A}</a:tableStyleId>
              </a:tblPr>
              <a:tblGrid>
                <a:gridCol w="2011680"/>
                <a:gridCol w="9052560"/>
              </a:tblGrid>
              <a:tr h="457200">
                <a:tc>
                  <a:txBody>
                    <a:bodyPr wrap="square"/>
                    <a:lstStyle/>
                    <a:p>
                      <a:r>
                        <a:rPr sz="1400" b="1">
                          <a:solidFill>
                            <a:srgbClr val="FFFFFF"/>
                          </a:solidFill>
                          <a:latin typeface="Calibri"/>
                        </a:rPr>
                        <a:t>Workload</a:t>
                      </a:r>
                    </a:p>
                  </a:txBody>
                  <a:tcPr anchor="ctr" marL="91440" marR="91440">
                    <a:solidFill>
                      <a:srgbClr val="12343B"/>
                    </a:solidFill>
                  </a:tcPr>
                </a:tc>
                <a:tc>
                  <a:txBody>
                    <a:bodyPr wrap="square"/>
                    <a:lstStyle/>
                    <a:p>
                      <a:r>
                        <a:rPr sz="1400" b="1">
                          <a:solidFill>
                            <a:srgbClr val="FFFFFF"/>
                          </a:solidFill>
                          <a:latin typeface="Calibri"/>
                        </a:rPr>
                        <a:t>What it does</a:t>
                      </a:r>
                    </a:p>
                  </a:txBody>
                  <a:tcPr anchor="ctr" marL="91440" marR="91440">
                    <a:solidFill>
                      <a:srgbClr val="12343B"/>
                    </a:solidFill>
                  </a:tcPr>
                </a:tc>
              </a:tr>
              <a:tr h="457200">
                <a:tc>
                  <a:txBody>
                    <a:bodyPr wrap="square"/>
                    <a:lstStyle/>
                    <a:p>
                      <a:r>
                        <a:rPr sz="1400" b="1">
                          <a:solidFill>
                            <a:srgbClr val="1F2A2E"/>
                          </a:solidFill>
                          <a:latin typeface="Calibri"/>
                        </a:rPr>
                        <a:t>sequential</a:t>
                      </a:r>
                    </a:p>
                  </a:txBody>
                  <a:tcPr anchor="ctr" marL="91440" marR="91440">
                    <a:solidFill>
                      <a:srgbClr val="FFFFFF"/>
                    </a:solidFill>
                  </a:tcPr>
                </a:tc>
                <a:tc>
                  <a:txBody>
                    <a:bodyPr wrap="square"/>
                    <a:lstStyle/>
                    <a:p>
                      <a:r>
                        <a:rPr sz="1400" b="0">
                          <a:solidFill>
                            <a:srgbClr val="1F2A2E"/>
                          </a:solidFill>
                          <a:latin typeface="Calibri"/>
                        </a:rPr>
                        <a:t>every file read front to back</a:t>
                      </a:r>
                    </a:p>
                  </a:txBody>
                  <a:tcPr anchor="ctr" marL="91440" marR="91440">
                    <a:solidFill>
                      <a:srgbClr val="FFFFFF"/>
                    </a:solidFill>
                  </a:tcPr>
                </a:tc>
              </a:tr>
              <a:tr h="457200">
                <a:tc>
                  <a:txBody>
                    <a:bodyPr wrap="square"/>
                    <a:lstStyle/>
                    <a:p>
                      <a:r>
                        <a:rPr sz="1400" b="1">
                          <a:solidFill>
                            <a:srgbClr val="1F2A2E"/>
                          </a:solidFill>
                          <a:latin typeface="Calibri"/>
                        </a:rPr>
                        <a:t>random</a:t>
                      </a:r>
                    </a:p>
                  </a:txBody>
                  <a:tcPr anchor="ctr" marL="91440" marR="91440">
                    <a:solidFill>
                      <a:srgbClr val="F6F8F8"/>
                    </a:solidFill>
                  </a:tcPr>
                </a:tc>
                <a:tc>
                  <a:txBody>
                    <a:bodyPr wrap="square"/>
                    <a:lstStyle/>
                    <a:p>
                      <a:r>
                        <a:rPr sz="1400" b="0">
                          <a:solidFill>
                            <a:srgbClr val="1F2A2E"/>
                          </a:solidFill>
                          <a:latin typeface="Calibri"/>
                        </a:rPr>
                        <a:t>uniformly random blocks: nothing to predict</a:t>
                      </a:r>
                    </a:p>
                  </a:txBody>
                  <a:tcPr anchor="ctr" marL="91440" marR="91440">
                    <a:solidFill>
                      <a:srgbClr val="F6F8F8"/>
                    </a:solidFill>
                  </a:tcPr>
                </a:tc>
              </a:tr>
              <a:tr h="457200">
                <a:tc>
                  <a:txBody>
                    <a:bodyPr wrap="square"/>
                    <a:lstStyle/>
                    <a:p>
                      <a:r>
                        <a:rPr sz="1400" b="1">
                          <a:solidFill>
                            <a:srgbClr val="1F2A2E"/>
                          </a:solidFill>
                          <a:latin typeface="Calibri"/>
                        </a:rPr>
                        <a:t>repetitive</a:t>
                      </a:r>
                    </a:p>
                  </a:txBody>
                  <a:tcPr anchor="ctr" marL="91440" marR="91440">
                    <a:solidFill>
                      <a:srgbClr val="FFFFFF"/>
                    </a:solidFill>
                  </a:tcPr>
                </a:tc>
                <a:tc>
                  <a:txBody>
                    <a:bodyPr wrap="square"/>
                    <a:lstStyle/>
                    <a:p>
                      <a:r>
                        <a:rPr sz="1400" b="0">
                          <a:solidFill>
                            <a:srgbClr val="1F2A2E"/>
                          </a:solidFill>
                          <a:latin typeface="Calibri"/>
                        </a:rPr>
                        <a:t>one fixed random order of 600 blocks, repeated; longer than the cache holds</a:t>
                      </a:r>
                    </a:p>
                  </a:txBody>
                  <a:tcPr anchor="ctr" marL="91440" marR="91440">
                    <a:solidFill>
                      <a:srgbClr val="FFFFFF"/>
                    </a:solidFill>
                  </a:tcPr>
                </a:tc>
              </a:tr>
              <a:tr h="457200">
                <a:tc>
                  <a:txBody>
                    <a:bodyPr wrap="square"/>
                    <a:lstStyle/>
                    <a:p>
                      <a:r>
                        <a:rPr sz="1400" b="1">
                          <a:solidFill>
                            <a:srgbClr val="1F2A2E"/>
                          </a:solidFill>
                          <a:latin typeface="Calibri"/>
                        </a:rPr>
                        <a:t>mixed</a:t>
                      </a:r>
                    </a:p>
                  </a:txBody>
                  <a:tcPr anchor="ctr" marL="91440" marR="91440">
                    <a:solidFill>
                      <a:srgbClr val="F6F8F8"/>
                    </a:solidFill>
                  </a:tcPr>
                </a:tc>
                <a:tc>
                  <a:txBody>
                    <a:bodyPr wrap="square"/>
                    <a:lstStyle/>
                    <a:p>
                      <a:r>
                        <a:rPr sz="1400" b="0">
                          <a:solidFill>
                            <a:srgbClr val="1F2A2E"/>
                          </a:solidFill>
                          <a:latin typeface="Calibri"/>
                        </a:rPr>
                        <a:t>sequential, repetitive and random phases of 512 operations, one operation in ten a write</a:t>
                      </a:r>
                    </a:p>
                  </a:txBody>
                  <a:tcPr anchor="ctr" marL="91440" marR="91440">
                    <a:solidFill>
                      <a:srgbClr val="F6F8F8"/>
                    </a:solidFill>
                  </a:tcPr>
                </a:tc>
              </a:tr>
            </a:tbl>
          </a:graphicData>
        </a:graphic>
      </p:graphicFrame>
      <p:sp>
        <p:nvSpPr>
          <p:cNvPr id="17" name="TextBox 16"/>
          <p:cNvSpPr txBox="1"/>
          <p:nvPr/>
        </p:nvSpPr>
        <p:spPr>
          <a:xfrm>
            <a:off x="548640" y="6035040"/>
            <a:ext cx="11064240" cy="365760"/>
          </a:xfrm>
          <a:prstGeom prst="rect">
            <a:avLst/>
          </a:prstGeom>
          <a:noFill/>
        </p:spPr>
        <p:txBody>
          <a:bodyPr wrap="square" anchor="t" lIns="45720" rIns="45720" tIns="27432" bIns="27432">
            <a:spAutoFit/>
          </a:bodyPr>
          <a:lstStyle/>
          <a:p>
            <a:pPr algn="l">
              <a:spcAft>
                <a:spcPts val="600"/>
              </a:spcAft>
            </a:pPr>
            <a:r>
              <a:rPr sz="1300" b="0" i="0">
                <a:solidFill>
                  <a:srgbClr val="5C6B70"/>
                </a:solidFill>
                <a:latin typeface="Calibri"/>
              </a:rPr>
              <a:t>Image opened with O_DIRECT, so every cache miss is a real device read. Tables show the median of 3 runs.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Results: read latency</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14</a:t>
            </a:r>
          </a:p>
        </p:txBody>
      </p:sp>
      <p:graphicFrame>
        <p:nvGraphicFramePr>
          <p:cNvPr id="4" name="Chart 3"/>
          <p:cNvGraphicFramePr>
            <a:graphicFrameLocks noGrp="1"/>
          </p:cNvGraphicFramePr>
          <p:nvPr/>
        </p:nvGraphicFramePr>
        <p:xfrm>
          <a:off x="457200" y="1371600"/>
          <a:ext cx="7589520" cy="4937760"/>
        </p:xfrm>
        <a:graphic>
          <a:graphicData uri="http://schemas.openxmlformats.org/drawingml/2006/chart">
            <c:chart xmlns:c="http://schemas.openxmlformats.org/drawingml/2006/chart" r:id="rId3"/>
          </a:graphicData>
        </a:graphic>
      </p:graphicFrame>
      <p:sp>
        <p:nvSpPr>
          <p:cNvPr id="5" name="Rounded Rectangle 4"/>
          <p:cNvSpPr/>
          <p:nvPr/>
        </p:nvSpPr>
        <p:spPr>
          <a:xfrm>
            <a:off x="8321040" y="1463040"/>
            <a:ext cx="329184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58200" y="1508760"/>
            <a:ext cx="3017520" cy="640080"/>
          </a:xfrm>
          <a:prstGeom prst="rect">
            <a:avLst/>
          </a:prstGeom>
          <a:noFill/>
        </p:spPr>
        <p:txBody>
          <a:bodyPr wrap="square" anchor="ctr" lIns="45720" rIns="45720" tIns="27432" bIns="27432">
            <a:spAutoFit/>
          </a:bodyPr>
          <a:lstStyle/>
          <a:p>
            <a:pPr algn="l">
              <a:spcAft>
                <a:spcPts val="600"/>
              </a:spcAft>
            </a:pPr>
            <a:r>
              <a:rPr sz="2800" b="1" i="0">
                <a:solidFill>
                  <a:srgbClr val="0B7285"/>
                </a:solidFill>
                <a:latin typeface="Cambria"/>
              </a:rPr>
              <a:t>87 us</a:t>
            </a:r>
          </a:p>
        </p:txBody>
      </p:sp>
      <p:sp>
        <p:nvSpPr>
          <p:cNvPr id="7" name="TextBox 6"/>
          <p:cNvSpPr txBox="1"/>
          <p:nvPr/>
        </p:nvSpPr>
        <p:spPr>
          <a:xfrm>
            <a:off x="8458200" y="2130552"/>
            <a:ext cx="3017520" cy="640080"/>
          </a:xfrm>
          <a:prstGeom prst="rect">
            <a:avLst/>
          </a:prstGeom>
          <a:noFill/>
        </p:spPr>
        <p:txBody>
          <a:bodyPr wrap="square" anchor="t" lIns="45720" rIns="45720" tIns="27432" bIns="27432">
            <a:spAutoFit/>
          </a:bodyPr>
          <a:lstStyle/>
          <a:p>
            <a:pPr algn="l">
              <a:spcAft>
                <a:spcPts val="600"/>
              </a:spcAft>
            </a:pPr>
            <a:r>
              <a:rPr sz="1300" b="0" i="0">
                <a:solidFill>
                  <a:srgbClr val="1F2A2E"/>
                </a:solidFill>
                <a:latin typeface="Calibri"/>
              </a:rPr>
              <a:t>sequential, against 148 with no prediction</a:t>
            </a:r>
          </a:p>
        </p:txBody>
      </p:sp>
      <p:sp>
        <p:nvSpPr>
          <p:cNvPr id="8" name="Rounded Rectangle 7"/>
          <p:cNvSpPr/>
          <p:nvPr/>
        </p:nvSpPr>
        <p:spPr>
          <a:xfrm>
            <a:off x="8321040" y="3035808"/>
            <a:ext cx="329184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3081528"/>
            <a:ext cx="3017520" cy="640080"/>
          </a:xfrm>
          <a:prstGeom prst="rect">
            <a:avLst/>
          </a:prstGeom>
          <a:noFill/>
        </p:spPr>
        <p:txBody>
          <a:bodyPr wrap="square" anchor="ctr" lIns="45720" rIns="45720" tIns="27432" bIns="27432">
            <a:spAutoFit/>
          </a:bodyPr>
          <a:lstStyle/>
          <a:p>
            <a:pPr algn="l">
              <a:spcAft>
                <a:spcPts val="600"/>
              </a:spcAft>
            </a:pPr>
            <a:r>
              <a:rPr sz="2800" b="1" i="0">
                <a:solidFill>
                  <a:srgbClr val="0B7285"/>
                </a:solidFill>
                <a:latin typeface="Cambria"/>
              </a:rPr>
              <a:t>125 us</a:t>
            </a:r>
          </a:p>
        </p:txBody>
      </p:sp>
      <p:sp>
        <p:nvSpPr>
          <p:cNvPr id="10" name="TextBox 9"/>
          <p:cNvSpPr txBox="1"/>
          <p:nvPr/>
        </p:nvSpPr>
        <p:spPr>
          <a:xfrm>
            <a:off x="8458200" y="3703320"/>
            <a:ext cx="3017520" cy="640080"/>
          </a:xfrm>
          <a:prstGeom prst="rect">
            <a:avLst/>
          </a:prstGeom>
          <a:noFill/>
        </p:spPr>
        <p:txBody>
          <a:bodyPr wrap="square" anchor="t" lIns="45720" rIns="45720" tIns="27432" bIns="27432">
            <a:spAutoFit/>
          </a:bodyPr>
          <a:lstStyle/>
          <a:p>
            <a:pPr algn="l">
              <a:spcAft>
                <a:spcPts val="600"/>
              </a:spcAft>
            </a:pPr>
            <a:r>
              <a:rPr sz="1300" b="0" i="0">
                <a:solidFill>
                  <a:srgbClr val="1F2A2E"/>
                </a:solidFill>
                <a:latin typeface="Calibri"/>
              </a:rPr>
              <a:t>repetitive, against 195 for the hand-written version</a:t>
            </a:r>
          </a:p>
        </p:txBody>
      </p:sp>
      <p:sp>
        <p:nvSpPr>
          <p:cNvPr id="11" name="Rounded Rectangle 10"/>
          <p:cNvSpPr/>
          <p:nvPr/>
        </p:nvSpPr>
        <p:spPr>
          <a:xfrm>
            <a:off x="8321040" y="4608576"/>
            <a:ext cx="329184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4654296"/>
            <a:ext cx="3017520" cy="640080"/>
          </a:xfrm>
          <a:prstGeom prst="rect">
            <a:avLst/>
          </a:prstGeom>
          <a:noFill/>
        </p:spPr>
        <p:txBody>
          <a:bodyPr wrap="square" anchor="ctr" lIns="45720" rIns="45720" tIns="27432" bIns="27432">
            <a:spAutoFit/>
          </a:bodyPr>
          <a:lstStyle/>
          <a:p>
            <a:pPr algn="l">
              <a:spcAft>
                <a:spcPts val="600"/>
              </a:spcAft>
            </a:pPr>
            <a:r>
              <a:rPr sz="2800" b="1" i="0">
                <a:solidFill>
                  <a:srgbClr val="0B7285"/>
                </a:solidFill>
                <a:latin typeface="Cambria"/>
              </a:rPr>
              <a:t>212 us</a:t>
            </a:r>
          </a:p>
        </p:txBody>
      </p:sp>
      <p:sp>
        <p:nvSpPr>
          <p:cNvPr id="13" name="TextBox 12"/>
          <p:cNvSpPr txBox="1"/>
          <p:nvPr/>
        </p:nvSpPr>
        <p:spPr>
          <a:xfrm>
            <a:off x="8458200" y="5276088"/>
            <a:ext cx="3017520" cy="640080"/>
          </a:xfrm>
          <a:prstGeom prst="rect">
            <a:avLst/>
          </a:prstGeom>
          <a:noFill/>
        </p:spPr>
        <p:txBody>
          <a:bodyPr wrap="square" anchor="t" lIns="45720" rIns="45720" tIns="27432" bIns="27432">
            <a:spAutoFit/>
          </a:bodyPr>
          <a:lstStyle/>
          <a:p>
            <a:pPr algn="l">
              <a:spcAft>
                <a:spcPts val="600"/>
              </a:spcAft>
            </a:pPr>
            <a:r>
              <a:rPr sz="1300" b="0" i="0">
                <a:solidFill>
                  <a:srgbClr val="1F2A2E"/>
                </a:solidFill>
                <a:latin typeface="Calibri"/>
              </a:rPr>
              <a:t>mixed, against 275 for the hand-written version</a:t>
            </a:r>
          </a:p>
        </p:txBody>
      </p:sp>
      <p:sp>
        <p:nvSpPr>
          <p:cNvPr id="14" name="TextBox 13"/>
          <p:cNvSpPr txBox="1"/>
          <p:nvPr/>
        </p:nvSpPr>
        <p:spPr>
          <a:xfrm>
            <a:off x="8321040" y="6172200"/>
            <a:ext cx="3291840" cy="365760"/>
          </a:xfrm>
          <a:prstGeom prst="rect">
            <a:avLst/>
          </a:prstGeom>
          <a:noFill/>
        </p:spPr>
        <p:txBody>
          <a:bodyPr wrap="square" anchor="t" lIns="45720" rIns="45720" tIns="27432" bIns="27432">
            <a:spAutoFit/>
          </a:bodyPr>
          <a:lstStyle/>
          <a:p>
            <a:pPr algn="l">
              <a:spcAft>
                <a:spcPts val="600"/>
              </a:spcAft>
            </a:pPr>
            <a:r>
              <a:rPr sz="1200" b="0" i="0">
                <a:solidFill>
                  <a:srgbClr val="5C6B70"/>
                </a:solidFill>
                <a:latin typeface="Calibri"/>
              </a:rPr>
              <a:t>Random: no reliable difference.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Results: how good are the predictions?</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15</a:t>
            </a:r>
          </a:p>
        </p:txBody>
      </p:sp>
      <p:graphicFrame>
        <p:nvGraphicFramePr>
          <p:cNvPr id="4" name="Chart 3"/>
          <p:cNvGraphicFramePr>
            <a:graphicFrameLocks noGrp="1"/>
          </p:cNvGraphicFramePr>
          <p:nvPr/>
        </p:nvGraphicFramePr>
        <p:xfrm>
          <a:off x="457200" y="1371600"/>
          <a:ext cx="5577840" cy="420624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172200" y="1371600"/>
          <a:ext cx="5577840" cy="4206240"/>
        </p:xfrm>
        <a:graphic>
          <a:graphicData uri="http://schemas.openxmlformats.org/drawingml/2006/chart">
            <c:chart xmlns:c="http://schemas.openxmlformats.org/drawingml/2006/chart" r:id="rId4"/>
          </a:graphicData>
        </a:graphic>
      </p:graphicFrame>
      <p:sp>
        <p:nvSpPr>
          <p:cNvPr id="6" name="TextBox 5"/>
          <p:cNvSpPr txBox="1"/>
          <p:nvPr/>
        </p:nvSpPr>
        <p:spPr>
          <a:xfrm>
            <a:off x="548640" y="5715000"/>
            <a:ext cx="11064240" cy="822960"/>
          </a:xfrm>
          <a:prstGeom prst="rect">
            <a:avLst/>
          </a:prstGeom>
          <a:noFill/>
        </p:spPr>
        <p:txBody>
          <a:bodyPr wrap="square" anchor="t" lIns="45720" rIns="45720" tIns="27432" bIns="27432">
            <a:spAutoFit/>
          </a:bodyPr>
          <a:lstStyle/>
          <a:p>
            <a:pPr algn="l" marL="285750" indent="-285750">
              <a:spcAft>
                <a:spcPts val="400"/>
              </a:spcAft>
              <a:buChar char="•"/>
            </a:pPr>
            <a:r>
              <a:rPr sz="1500" b="0" i="0">
                <a:solidFill>
                  <a:srgbClr val="1F2A2E"/>
                </a:solidFill>
                <a:latin typeface="Calibri"/>
              </a:rPr>
              <a:t>C wastes nothing on random and repetitive reads, and predicts more of the repetitive pattern than B.</a:t>
            </a:r>
          </a:p>
          <a:p>
            <a:pPr algn="l" marL="285750" indent="-285750">
              <a:spcAft>
                <a:spcPts val="400"/>
              </a:spcAft>
              <a:buChar char="•"/>
            </a:pPr>
            <a:r>
              <a:rPr sz="1500" b="0" i="0">
                <a:solidFill>
                  <a:srgbClr val="1F2A2E"/>
                </a:solidFill>
                <a:latin typeface="Calibri"/>
              </a:rPr>
              <a:t>On the mixed workload C predicts 24% of reads against B's 42%: it needs a new training before it follows a new pattern.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Results: the learned memory split</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16</a:t>
            </a:r>
          </a:p>
        </p:txBody>
      </p:sp>
      <p:graphicFrame>
        <p:nvGraphicFramePr>
          <p:cNvPr id="4" name="Chart 3"/>
          <p:cNvGraphicFramePr>
            <a:graphicFrameLocks noGrp="1"/>
          </p:cNvGraphicFramePr>
          <p:nvPr/>
        </p:nvGraphicFramePr>
        <p:xfrm>
          <a:off x="457200" y="1371600"/>
          <a:ext cx="5852160" cy="4846320"/>
        </p:xfrm>
        <a:graphic>
          <a:graphicData uri="http://schemas.openxmlformats.org/drawingml/2006/chart">
            <c:chart xmlns:c="http://schemas.openxmlformats.org/drawingml/2006/chart" r:id="rId3"/>
          </a:graphicData>
        </a:graphic>
      </p:graphicFrame>
      <p:sp>
        <p:nvSpPr>
          <p:cNvPr id="5" name="TextBox 4"/>
          <p:cNvSpPr txBox="1"/>
          <p:nvPr/>
        </p:nvSpPr>
        <p:spPr>
          <a:xfrm>
            <a:off x="6583680" y="1463040"/>
            <a:ext cx="5029200" cy="4754880"/>
          </a:xfrm>
          <a:prstGeom prst="rect">
            <a:avLst/>
          </a:prstGeom>
          <a:noFill/>
        </p:spPr>
        <p:txBody>
          <a:bodyPr wrap="square" anchor="t" lIns="45720" rIns="45720" tIns="27432" bIns="27432">
            <a:spAutoFit/>
          </a:bodyPr>
          <a:lstStyle/>
          <a:p>
            <a:pPr algn="l">
              <a:spcAft>
                <a:spcPts val="800"/>
              </a:spcAft>
            </a:pPr>
            <a:r>
              <a:rPr sz="1900" b="1" i="0">
                <a:solidFill>
                  <a:srgbClr val="0B7285"/>
                </a:solidFill>
                <a:latin typeface="Calibri"/>
              </a:rPr>
              <a:t>What it learned</a:t>
            </a:r>
          </a:p>
          <a:p>
            <a:pPr algn="l">
              <a:spcAft>
                <a:spcPts val="800"/>
              </a:spcAft>
            </a:pPr>
            <a:r>
              <a:rPr sz="1500" b="0" i="0">
                <a:solidFill>
                  <a:srgbClr val="1F2A2E"/>
                </a:solidFill>
                <a:latin typeface="Calibri"/>
              </a:rPr>
              <a:t>On random and mixed reads the mapping cache is the one short of memory. The model ended at 50% for file data in all three runs of each.</a:t>
            </a:r>
          </a:p>
          <a:p>
            <a:pPr algn="l">
              <a:spcAft>
                <a:spcPts val="800"/>
              </a:spcAft>
            </a:pPr>
            <a:r>
              <a:rPr sz="1900" b="1" i="0">
                <a:solidFill>
                  <a:srgbClr val="0B7285"/>
                </a:solidFill>
                <a:latin typeface="Calibri"/>
              </a:rPr>
              <a:t>What it cost</a:t>
            </a:r>
          </a:p>
          <a:p>
            <a:pPr algn="l">
              <a:spcAft>
                <a:spcPts val="800"/>
              </a:spcAft>
            </a:pPr>
            <a:r>
              <a:rPr sz="1500" b="0" i="0">
                <a:solidFill>
                  <a:srgbClr val="1F2A2E"/>
                </a:solidFill>
                <a:latin typeface="Calibri"/>
              </a:rPr>
              <a:t>Less memory for file data: the block cache's hit rate on random reads fell from 5.6% to 4.2%.</a:t>
            </a:r>
          </a:p>
          <a:p>
            <a:pPr algn="l">
              <a:spcAft>
                <a:spcPts val="800"/>
              </a:spcAft>
            </a:pPr>
            <a:r>
              <a:rPr sz="1900" b="1" i="0">
                <a:solidFill>
                  <a:srgbClr val="0B7285"/>
                </a:solidFill>
                <a:latin typeface="Calibri"/>
              </a:rPr>
              <a:t>Net effect</a:t>
            </a:r>
          </a:p>
          <a:p>
            <a:pPr algn="l">
              <a:spcAft>
                <a:spcPts val="800"/>
              </a:spcAft>
            </a:pPr>
            <a:r>
              <a:rPr sz="1500" b="0" i="0">
                <a:solidFill>
                  <a:srgbClr val="1F2A2E"/>
                </a:solidFill>
                <a:latin typeface="Calibri"/>
              </a:rPr>
              <a:t>No change in read latency that we could measure: 1 to 2 microseconds over 12 side-by-side runs.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What it does not do well</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17</a:t>
            </a:r>
          </a:p>
        </p:txBody>
      </p:sp>
      <p:sp>
        <p:nvSpPr>
          <p:cNvPr id="4" name="Rounded Rectangle 3"/>
          <p:cNvSpPr/>
          <p:nvPr/>
        </p:nvSpPr>
        <p:spPr>
          <a:xfrm>
            <a:off x="548640" y="1508760"/>
            <a:ext cx="3520440" cy="214884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19"/>
            <a:ext cx="3154680" cy="1920240"/>
          </a:xfrm>
          <a:prstGeom prst="rect">
            <a:avLst/>
          </a:prstGeom>
          <a:noFill/>
        </p:spPr>
        <p:txBody>
          <a:bodyPr wrap="square" anchor="t" lIns="45720" rIns="45720" tIns="27432" bIns="27432">
            <a:spAutoFit/>
          </a:bodyPr>
          <a:lstStyle/>
          <a:p>
            <a:pPr algn="l">
              <a:spcAft>
                <a:spcPts val="600"/>
              </a:spcAft>
            </a:pPr>
            <a:r>
              <a:rPr sz="1800" b="1" i="0">
                <a:solidFill>
                  <a:srgbClr val="12343B"/>
                </a:solidFill>
                <a:latin typeface="Calibri"/>
              </a:rPr>
              <a:t>Changing workloads</a:t>
            </a:r>
          </a:p>
          <a:p>
            <a:pPr algn="l">
              <a:spcAft>
                <a:spcPts val="600"/>
              </a:spcAft>
            </a:pPr>
            <a:r>
              <a:rPr sz="1500" b="0" i="0">
                <a:solidFill>
                  <a:srgbClr val="1F2A2E"/>
                </a:solidFill>
                <a:latin typeface="Calibri"/>
              </a:rPr>
              <a:t>On the mixed workload C serves 24% of reads from prefetch; the hand-written version serves 42%.</a:t>
            </a:r>
          </a:p>
        </p:txBody>
      </p:sp>
      <p:sp>
        <p:nvSpPr>
          <p:cNvPr id="6" name="Rounded Rectangle 5"/>
          <p:cNvSpPr/>
          <p:nvPr/>
        </p:nvSpPr>
        <p:spPr>
          <a:xfrm>
            <a:off x="4297679" y="1508760"/>
            <a:ext cx="3520440" cy="214884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59" y="1645919"/>
            <a:ext cx="3154680" cy="1920240"/>
          </a:xfrm>
          <a:prstGeom prst="rect">
            <a:avLst/>
          </a:prstGeom>
          <a:noFill/>
        </p:spPr>
        <p:txBody>
          <a:bodyPr wrap="square" anchor="t" lIns="45720" rIns="45720" tIns="27432" bIns="27432">
            <a:spAutoFit/>
          </a:bodyPr>
          <a:lstStyle/>
          <a:p>
            <a:pPr algn="l">
              <a:spcAft>
                <a:spcPts val="600"/>
              </a:spcAft>
            </a:pPr>
            <a:r>
              <a:rPr sz="1800" b="1" i="0">
                <a:solidFill>
                  <a:srgbClr val="12343B"/>
                </a:solidFill>
                <a:latin typeface="Calibri"/>
              </a:rPr>
              <a:t>The random workload</a:t>
            </a:r>
          </a:p>
          <a:p>
            <a:pPr algn="l">
              <a:spcAft>
                <a:spcPts val="600"/>
              </a:spcAft>
            </a:pPr>
            <a:r>
              <a:rPr sz="1500" b="0" i="0">
                <a:solidFill>
                  <a:srgbClr val="1F2A2E"/>
                </a:solidFill>
                <a:latin typeface="Calibri"/>
              </a:rPr>
              <a:t>C measures faster than A there, but it prefetched nothing. Timings on this machine shift with what else is running, so we do not claim it.</a:t>
            </a:r>
          </a:p>
        </p:txBody>
      </p:sp>
      <p:sp>
        <p:nvSpPr>
          <p:cNvPr id="8" name="Rounded Rectangle 7"/>
          <p:cNvSpPr/>
          <p:nvPr/>
        </p:nvSpPr>
        <p:spPr>
          <a:xfrm>
            <a:off x="8046719" y="1508760"/>
            <a:ext cx="3520440" cy="214884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9" y="1645919"/>
            <a:ext cx="3154680" cy="1920240"/>
          </a:xfrm>
          <a:prstGeom prst="rect">
            <a:avLst/>
          </a:prstGeom>
          <a:noFill/>
        </p:spPr>
        <p:txBody>
          <a:bodyPr wrap="square" anchor="t" lIns="45720" rIns="45720" tIns="27432" bIns="27432">
            <a:spAutoFit/>
          </a:bodyPr>
          <a:lstStyle/>
          <a:p>
            <a:pPr algn="l">
              <a:spcAft>
                <a:spcPts val="600"/>
              </a:spcAft>
            </a:pPr>
            <a:r>
              <a:rPr sz="1800" b="1" i="0">
                <a:solidFill>
                  <a:srgbClr val="12343B"/>
                </a:solidFill>
                <a:latin typeface="Calibri"/>
              </a:rPr>
              <a:t>With think time</a:t>
            </a:r>
          </a:p>
          <a:p>
            <a:pPr algn="l">
              <a:spcAft>
                <a:spcPts val="600"/>
              </a:spcAft>
            </a:pPr>
            <a:r>
              <a:rPr sz="1500" b="0" i="0">
                <a:solidFill>
                  <a:srgbClr val="1F2A2E"/>
                </a:solidFill>
                <a:latin typeface="Calibri"/>
              </a:rPr>
              <a:t>With 200 us between reads, B is ahead of C on the mixed workload (333 against 351 us).</a:t>
            </a:r>
          </a:p>
        </p:txBody>
      </p:sp>
      <p:sp>
        <p:nvSpPr>
          <p:cNvPr id="10" name="Rounded Rectangle 9"/>
          <p:cNvSpPr/>
          <p:nvPr/>
        </p:nvSpPr>
        <p:spPr>
          <a:xfrm>
            <a:off x="548640" y="3886200"/>
            <a:ext cx="3520440" cy="214884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23360"/>
            <a:ext cx="3154680" cy="1920240"/>
          </a:xfrm>
          <a:prstGeom prst="rect">
            <a:avLst/>
          </a:prstGeom>
          <a:noFill/>
        </p:spPr>
        <p:txBody>
          <a:bodyPr wrap="square" anchor="t" lIns="45720" rIns="45720" tIns="27432" bIns="27432">
            <a:spAutoFit/>
          </a:bodyPr>
          <a:lstStyle/>
          <a:p>
            <a:pPr algn="l">
              <a:spcAft>
                <a:spcPts val="600"/>
              </a:spcAft>
            </a:pPr>
            <a:r>
              <a:rPr sz="1800" b="1" i="0">
                <a:solidFill>
                  <a:srgbClr val="12343B"/>
                </a:solidFill>
                <a:latin typeface="Calibri"/>
              </a:rPr>
              <a:t>The memory split</a:t>
            </a:r>
          </a:p>
          <a:p>
            <a:pPr algn="l">
              <a:spcAft>
                <a:spcPts val="600"/>
              </a:spcAft>
            </a:pPr>
            <a:r>
              <a:rPr sz="1500" b="0" i="0">
                <a:solidFill>
                  <a:srgbClr val="1F2A2E"/>
                </a:solidFill>
                <a:latin typeface="Calibri"/>
              </a:rPr>
              <a:t>When neither cache is short it has nothing to learn from. On repetitive reads it drifted to 50% and left about 400 KiB unused.</a:t>
            </a:r>
          </a:p>
        </p:txBody>
      </p:sp>
      <p:sp>
        <p:nvSpPr>
          <p:cNvPr id="12" name="Rounded Rectangle 11"/>
          <p:cNvSpPr/>
          <p:nvPr/>
        </p:nvSpPr>
        <p:spPr>
          <a:xfrm>
            <a:off x="4297679" y="3886200"/>
            <a:ext cx="3520440" cy="214884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4023360"/>
            <a:ext cx="3154680" cy="1920240"/>
          </a:xfrm>
          <a:prstGeom prst="rect">
            <a:avLst/>
          </a:prstGeom>
          <a:noFill/>
        </p:spPr>
        <p:txBody>
          <a:bodyPr wrap="square" anchor="t" lIns="45720" rIns="45720" tIns="27432" bIns="27432">
            <a:spAutoFit/>
          </a:bodyPr>
          <a:lstStyle/>
          <a:p>
            <a:pPr algn="l">
              <a:spcAft>
                <a:spcPts val="600"/>
              </a:spcAft>
            </a:pPr>
            <a:r>
              <a:rPr sz="1800" b="1" i="0">
                <a:solidFill>
                  <a:srgbClr val="12343B"/>
                </a:solidFill>
                <a:latin typeface="Calibri"/>
              </a:rPr>
              <a:t>Not everything is learned</a:t>
            </a:r>
          </a:p>
          <a:p>
            <a:pPr algn="l">
              <a:spcAft>
                <a:spcPts val="600"/>
              </a:spcAft>
            </a:pPr>
            <a:r>
              <a:rPr sz="1500" b="0" i="0">
                <a:solidFill>
                  <a:srgbClr val="1F2A2E"/>
                </a:solidFill>
                <a:latin typeface="Calibri"/>
              </a:rPr>
              <a:t>Loading 32 block mappings per query is fixed code, and part of why sequential reads are fast.</a:t>
            </a:r>
          </a:p>
        </p:txBody>
      </p:sp>
      <p:sp>
        <p:nvSpPr>
          <p:cNvPr id="14" name="Rounded Rectangle 13"/>
          <p:cNvSpPr/>
          <p:nvPr/>
        </p:nvSpPr>
        <p:spPr>
          <a:xfrm>
            <a:off x="8046719" y="3886200"/>
            <a:ext cx="3520440" cy="214884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4023360"/>
            <a:ext cx="3154680" cy="1920240"/>
          </a:xfrm>
          <a:prstGeom prst="rect">
            <a:avLst/>
          </a:prstGeom>
          <a:noFill/>
        </p:spPr>
        <p:txBody>
          <a:bodyPr wrap="square" anchor="t" lIns="45720" rIns="45720" tIns="27432" bIns="27432">
            <a:spAutoFit/>
          </a:bodyPr>
          <a:lstStyle/>
          <a:p>
            <a:pPr algn="l">
              <a:spcAft>
                <a:spcPts val="600"/>
              </a:spcAft>
            </a:pPr>
            <a:r>
              <a:rPr sz="1800" b="1" i="0">
                <a:solidFill>
                  <a:srgbClr val="12343B"/>
                </a:solidFill>
                <a:latin typeface="Calibri"/>
              </a:rPr>
              <a:t>A small evaluation</a:t>
            </a:r>
          </a:p>
          <a:p>
            <a:pPr algn="l">
              <a:spcAft>
                <a:spcPts val="600"/>
              </a:spcAft>
            </a:pPr>
            <a:r>
              <a:rPr sz="1500" b="0" i="0">
                <a:solidFill>
                  <a:srgbClr val="1F2A2E"/>
                </a:solidFill>
                <a:latin typeface="Calibri"/>
              </a:rPr>
              <a:t>3 runs per case, one machine, synthetic workloads. Settings were picked on the same workloads.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Conclusion</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18</a:t>
            </a:r>
          </a:p>
        </p:txBody>
      </p:sp>
      <p:sp>
        <p:nvSpPr>
          <p:cNvPr id="4" name="Rounded Rectangle 3"/>
          <p:cNvSpPr/>
          <p:nvPr/>
        </p:nvSpPr>
        <p:spPr>
          <a:xfrm>
            <a:off x="548640" y="1463040"/>
            <a:ext cx="11064240" cy="1078992"/>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755648"/>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1</a:t>
            </a:r>
          </a:p>
        </p:txBody>
      </p:sp>
      <p:sp>
        <p:nvSpPr>
          <p:cNvPr id="6" name="TextBox 5"/>
          <p:cNvSpPr txBox="1"/>
          <p:nvPr/>
        </p:nvSpPr>
        <p:spPr>
          <a:xfrm>
            <a:off x="1463040" y="1536192"/>
            <a:ext cx="3291840" cy="914400"/>
          </a:xfrm>
          <a:prstGeom prst="rect">
            <a:avLst/>
          </a:prstGeom>
          <a:noFill/>
        </p:spPr>
        <p:txBody>
          <a:bodyPr wrap="square" anchor="ctr" lIns="45720" rIns="45720" tIns="27432" bIns="27432">
            <a:spAutoFit/>
          </a:bodyPr>
          <a:lstStyle/>
          <a:p>
            <a:pPr algn="l">
              <a:spcAft>
                <a:spcPts val="600"/>
              </a:spcAft>
            </a:pPr>
            <a:r>
              <a:rPr sz="1800" b="1" i="0">
                <a:solidFill>
                  <a:srgbClr val="0B7285"/>
                </a:solidFill>
                <a:latin typeface="Calibri"/>
              </a:rPr>
              <a:t>A working filesystem</a:t>
            </a:r>
          </a:p>
        </p:txBody>
      </p:sp>
      <p:sp>
        <p:nvSpPr>
          <p:cNvPr id="7" name="TextBox 6"/>
          <p:cNvSpPr txBox="1"/>
          <p:nvPr/>
        </p:nvSpPr>
        <p:spPr>
          <a:xfrm>
            <a:off x="4754880" y="1536192"/>
            <a:ext cx="6675120" cy="914400"/>
          </a:xfrm>
          <a:prstGeom prst="rect">
            <a:avLst/>
          </a:prstGeom>
          <a:noFill/>
        </p:spPr>
        <p:txBody>
          <a:bodyPr wrap="square" anchor="ctr" lIns="45720" rIns="45720" tIns="27432" bIns="27432">
            <a:spAutoFit/>
          </a:bodyPr>
          <a:lstStyle/>
          <a:p>
            <a:pPr algn="l">
              <a:spcAft>
                <a:spcPts val="600"/>
              </a:spcAft>
            </a:pPr>
            <a:r>
              <a:rPr sz="1500" b="0" i="0">
                <a:solidFill>
                  <a:srgbClr val="1F2A2E"/>
                </a:solidFill>
                <a:latin typeface="Calibri"/>
              </a:rPr>
              <a:t>Mounts on Linux, works with ordinary programs, and returns the same bytes in all three versions.</a:t>
            </a:r>
          </a:p>
        </p:txBody>
      </p:sp>
      <p:sp>
        <p:nvSpPr>
          <p:cNvPr id="8" name="Rounded Rectangle 7"/>
          <p:cNvSpPr/>
          <p:nvPr/>
        </p:nvSpPr>
        <p:spPr>
          <a:xfrm>
            <a:off x="548640" y="2679192"/>
            <a:ext cx="11064240" cy="1078992"/>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971800"/>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2</a:t>
            </a:r>
          </a:p>
        </p:txBody>
      </p:sp>
      <p:sp>
        <p:nvSpPr>
          <p:cNvPr id="10" name="TextBox 9"/>
          <p:cNvSpPr txBox="1"/>
          <p:nvPr/>
        </p:nvSpPr>
        <p:spPr>
          <a:xfrm>
            <a:off x="1463040" y="2752344"/>
            <a:ext cx="3291840" cy="914400"/>
          </a:xfrm>
          <a:prstGeom prst="rect">
            <a:avLst/>
          </a:prstGeom>
          <a:noFill/>
        </p:spPr>
        <p:txBody>
          <a:bodyPr wrap="square" anchor="ctr" lIns="45720" rIns="45720" tIns="27432" bIns="27432">
            <a:spAutoFit/>
          </a:bodyPr>
          <a:lstStyle/>
          <a:p>
            <a:pPr algn="l">
              <a:spcAft>
                <a:spcPts val="600"/>
              </a:spcAft>
            </a:pPr>
            <a:r>
              <a:rPr sz="1800" b="1" i="0">
                <a:solidFill>
                  <a:srgbClr val="0B7285"/>
                </a:solidFill>
                <a:latin typeface="Calibri"/>
              </a:rPr>
              <a:t>A model that learns the pattern</a:t>
            </a:r>
          </a:p>
        </p:txBody>
      </p:sp>
      <p:sp>
        <p:nvSpPr>
          <p:cNvPr id="11" name="TextBox 10"/>
          <p:cNvSpPr txBox="1"/>
          <p:nvPr/>
        </p:nvSpPr>
        <p:spPr>
          <a:xfrm>
            <a:off x="4754880" y="2752344"/>
            <a:ext cx="6675120" cy="914400"/>
          </a:xfrm>
          <a:prstGeom prst="rect">
            <a:avLst/>
          </a:prstGeom>
          <a:noFill/>
        </p:spPr>
        <p:txBody>
          <a:bodyPr wrap="square" anchor="ctr" lIns="45720" rIns="45720" tIns="27432" bIns="27432">
            <a:spAutoFit/>
          </a:bodyPr>
          <a:lstStyle/>
          <a:p>
            <a:pPr algn="l">
              <a:spcAft>
                <a:spcPts val="600"/>
              </a:spcAft>
            </a:pPr>
            <a:r>
              <a:rPr sz="1500" b="0" i="0">
                <a:solidFill>
                  <a:srgbClr val="1F2A2E"/>
                </a:solidFill>
                <a:latin typeface="Calibri"/>
              </a:rPr>
              <a:t>A scikit-learn decision tree finds sequential and repeating orders from the reads alone, and stays quiet when there is none.</a:t>
            </a:r>
          </a:p>
        </p:txBody>
      </p:sp>
      <p:sp>
        <p:nvSpPr>
          <p:cNvPr id="12" name="Rounded Rectangle 11"/>
          <p:cNvSpPr/>
          <p:nvPr/>
        </p:nvSpPr>
        <p:spPr>
          <a:xfrm>
            <a:off x="548640" y="3895344"/>
            <a:ext cx="11064240" cy="1078992"/>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4187952"/>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3</a:t>
            </a:r>
          </a:p>
        </p:txBody>
      </p:sp>
      <p:sp>
        <p:nvSpPr>
          <p:cNvPr id="14" name="TextBox 13"/>
          <p:cNvSpPr txBox="1"/>
          <p:nvPr/>
        </p:nvSpPr>
        <p:spPr>
          <a:xfrm>
            <a:off x="1463040" y="3968496"/>
            <a:ext cx="3291840" cy="914400"/>
          </a:xfrm>
          <a:prstGeom prst="rect">
            <a:avLst/>
          </a:prstGeom>
          <a:noFill/>
        </p:spPr>
        <p:txBody>
          <a:bodyPr wrap="square" anchor="ctr" lIns="45720" rIns="45720" tIns="27432" bIns="27432">
            <a:spAutoFit/>
          </a:bodyPr>
          <a:lstStyle/>
          <a:p>
            <a:pPr algn="l">
              <a:spcAft>
                <a:spcPts val="600"/>
              </a:spcAft>
            </a:pPr>
            <a:r>
              <a:rPr sz="1800" b="1" i="0">
                <a:solidFill>
                  <a:srgbClr val="0B7285"/>
                </a:solidFill>
                <a:latin typeface="Calibri"/>
              </a:rPr>
              <a:t>Measured, not assumed</a:t>
            </a:r>
          </a:p>
        </p:txBody>
      </p:sp>
      <p:sp>
        <p:nvSpPr>
          <p:cNvPr id="15" name="TextBox 14"/>
          <p:cNvSpPr txBox="1"/>
          <p:nvPr/>
        </p:nvSpPr>
        <p:spPr>
          <a:xfrm>
            <a:off x="4754880" y="3968496"/>
            <a:ext cx="6675120" cy="914400"/>
          </a:xfrm>
          <a:prstGeom prst="rect">
            <a:avLst/>
          </a:prstGeom>
          <a:noFill/>
        </p:spPr>
        <p:txBody>
          <a:bodyPr wrap="square" anchor="ctr" lIns="45720" rIns="45720" tIns="27432" bIns="27432">
            <a:spAutoFit/>
          </a:bodyPr>
          <a:lstStyle/>
          <a:p>
            <a:pPr algn="l">
              <a:spcAft>
                <a:spcPts val="600"/>
              </a:spcAft>
            </a:pPr>
            <a:r>
              <a:rPr sz="1500" b="0" i="0">
                <a:solidFill>
                  <a:srgbClr val="1F2A2E"/>
                </a:solidFill>
                <a:latin typeface="Calibri"/>
              </a:rPr>
              <a:t>Fastest of the three with reads back to back: 87 against 148 us sequential, 125 against 347 us repetitive, compared with no prediction.</a:t>
            </a:r>
          </a:p>
        </p:txBody>
      </p:sp>
      <p:sp>
        <p:nvSpPr>
          <p:cNvPr id="16" name="Rounded Rectangle 15"/>
          <p:cNvSpPr/>
          <p:nvPr/>
        </p:nvSpPr>
        <p:spPr>
          <a:xfrm>
            <a:off x="548640" y="5111496"/>
            <a:ext cx="11064240" cy="1078992"/>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5404104"/>
            <a:ext cx="502920" cy="502920"/>
          </a:xfrm>
          <a:prstGeom prst="ellipse">
            <a:avLst/>
          </a:prstGeom>
          <a:solidFill>
            <a:srgbClr val="0B72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Cambria"/>
              </a:rPr>
              <a:t>4</a:t>
            </a:r>
          </a:p>
        </p:txBody>
      </p:sp>
      <p:sp>
        <p:nvSpPr>
          <p:cNvPr id="18" name="TextBox 17"/>
          <p:cNvSpPr txBox="1"/>
          <p:nvPr/>
        </p:nvSpPr>
        <p:spPr>
          <a:xfrm>
            <a:off x="1463040" y="5184648"/>
            <a:ext cx="3291840" cy="914400"/>
          </a:xfrm>
          <a:prstGeom prst="rect">
            <a:avLst/>
          </a:prstGeom>
          <a:noFill/>
        </p:spPr>
        <p:txBody>
          <a:bodyPr wrap="square" anchor="ctr" lIns="45720" rIns="45720" tIns="27432" bIns="27432">
            <a:spAutoFit/>
          </a:bodyPr>
          <a:lstStyle/>
          <a:p>
            <a:pPr algn="l">
              <a:spcAft>
                <a:spcPts val="600"/>
              </a:spcAft>
            </a:pPr>
            <a:r>
              <a:rPr sz="1800" b="1" i="0">
                <a:solidFill>
                  <a:srgbClr val="0B7285"/>
                </a:solidFill>
                <a:latin typeface="Calibri"/>
              </a:rPr>
              <a:t>Where the model runs matters</a:t>
            </a:r>
          </a:p>
        </p:txBody>
      </p:sp>
      <p:sp>
        <p:nvSpPr>
          <p:cNvPr id="19" name="TextBox 18"/>
          <p:cNvSpPr txBox="1"/>
          <p:nvPr/>
        </p:nvSpPr>
        <p:spPr>
          <a:xfrm>
            <a:off x="4754880" y="5184648"/>
            <a:ext cx="6675120" cy="914400"/>
          </a:xfrm>
          <a:prstGeom prst="rect">
            <a:avLst/>
          </a:prstGeom>
          <a:noFill/>
        </p:spPr>
        <p:txBody>
          <a:bodyPr wrap="square" anchor="ctr" lIns="45720" rIns="45720" tIns="27432" bIns="27432">
            <a:spAutoFit/>
          </a:bodyPr>
          <a:lstStyle/>
          <a:p>
            <a:pPr algn="l">
              <a:spcAft>
                <a:spcPts val="600"/>
              </a:spcAft>
            </a:pPr>
            <a:r>
              <a:rPr sz="1500" b="0" i="0">
                <a:solidFill>
                  <a:srgbClr val="1F2A2E"/>
                </a:solidFill>
                <a:latin typeface="Calibri"/>
              </a:rPr>
              <a:t>Asking Python on every read was slower than no prediction. Training in Python and following the tree in C++ fixed that.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65760"/>
            <a:ext cx="11064240" cy="868680"/>
          </a:xfrm>
        </p:spPr>
        <p:txBody>
          <a:bodyPr wrap="square" anchor="ctr"/>
          <a:lstStyle/>
          <a:p>
            <a:pPr algn="l"/>
            <a:r>
              <a:rPr sz="3400" b="1">
                <a:solidFill>
                  <a:srgbClr val="12343B"/>
                </a:solidFill>
                <a:latin typeface="Cambria"/>
              </a:rPr>
              <a:t>Future enhancements</a:t>
            </a:r>
          </a:p>
        </p:txBody>
      </p:sp>
      <p:sp>
        <p:nvSpPr>
          <p:cNvPr id="3" name="Slide number"/>
          <p:cNvSpPr txBox="1"/>
          <p:nvPr/>
        </p:nvSpPr>
        <p:spPr>
          <a:xfrm>
            <a:off x="10881360" y="6355080"/>
            <a:ext cx="822960" cy="320040"/>
          </a:xfrm>
          <a:prstGeom prst="rect">
            <a:avLst/>
          </a:prstGeom>
          <a:noFill/>
        </p:spPr>
        <p:txBody>
          <a:bodyPr wrap="square" anchor="t" lIns="45720" rIns="45720" tIns="27432" bIns="27432">
            <a:spAutoFit/>
          </a:bodyPr>
          <a:lstStyle/>
          <a:p>
            <a:pPr algn="r">
              <a:spcAft>
                <a:spcPts val="600"/>
              </a:spcAft>
            </a:pPr>
            <a:r>
              <a:rPr sz="1100" b="0" i="0">
                <a:solidFill>
                  <a:srgbClr val="5C6B70"/>
                </a:solidFill>
                <a:latin typeface="Calibri"/>
              </a:rPr>
              <a:t>19</a:t>
            </a:r>
          </a:p>
        </p:txBody>
      </p:sp>
      <p:sp>
        <p:nvSpPr>
          <p:cNvPr id="4" name="Rounded Rectangle 3"/>
          <p:cNvSpPr/>
          <p:nvPr/>
        </p:nvSpPr>
        <p:spPr>
          <a:xfrm>
            <a:off x="548640" y="15087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618488"/>
            <a:ext cx="4937760" cy="1188720"/>
          </a:xfrm>
          <a:prstGeom prst="rect">
            <a:avLst/>
          </a:prstGeom>
          <a:noFill/>
        </p:spPr>
        <p:txBody>
          <a:bodyPr wrap="square" anchor="ctr" lIns="45720" rIns="45720" tIns="27432" bIns="27432">
            <a:spAutoFit/>
          </a:bodyPr>
          <a:lstStyle/>
          <a:p>
            <a:pPr algn="l">
              <a:spcAft>
                <a:spcPts val="400"/>
              </a:spcAft>
            </a:pPr>
            <a:r>
              <a:rPr sz="1800" b="1" i="0">
                <a:solidFill>
                  <a:srgbClr val="0B7285"/>
                </a:solidFill>
                <a:latin typeface="Calibri"/>
              </a:rPr>
              <a:t>React faster to change</a:t>
            </a:r>
          </a:p>
          <a:p>
            <a:pPr algn="l">
              <a:spcAft>
                <a:spcPts val="600"/>
              </a:spcAft>
            </a:pPr>
            <a:r>
              <a:rPr sz="1500" b="0" i="0">
                <a:solidFill>
                  <a:srgbClr val="1F2A2E"/>
                </a:solidFill>
                <a:latin typeface="Calibri"/>
              </a:rPr>
              <a:t>Train sooner when predictions start to miss, to close the gap on mixed workloads.</a:t>
            </a:r>
          </a:p>
        </p:txBody>
      </p:sp>
      <p:sp>
        <p:nvSpPr>
          <p:cNvPr id="6" name="Rounded Rectangle 5"/>
          <p:cNvSpPr/>
          <p:nvPr/>
        </p:nvSpPr>
        <p:spPr>
          <a:xfrm>
            <a:off x="6217920" y="15087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18488"/>
            <a:ext cx="4937760" cy="1188720"/>
          </a:xfrm>
          <a:prstGeom prst="rect">
            <a:avLst/>
          </a:prstGeom>
          <a:noFill/>
        </p:spPr>
        <p:txBody>
          <a:bodyPr wrap="square" anchor="ctr" lIns="45720" rIns="45720" tIns="27432" bIns="27432">
            <a:spAutoFit/>
          </a:bodyPr>
          <a:lstStyle/>
          <a:p>
            <a:pPr algn="l">
              <a:spcAft>
                <a:spcPts val="400"/>
              </a:spcAft>
            </a:pPr>
            <a:r>
              <a:rPr sz="1800" b="1" i="0">
                <a:solidFill>
                  <a:srgbClr val="0B7285"/>
                </a:solidFill>
                <a:latin typeface="Calibri"/>
              </a:rPr>
              <a:t>Real workloads</a:t>
            </a:r>
          </a:p>
          <a:p>
            <a:pPr algn="l">
              <a:spcAft>
                <a:spcPts val="600"/>
              </a:spcAft>
            </a:pPr>
            <a:r>
              <a:rPr sz="1500" b="0" i="0">
                <a:solidFill>
                  <a:srgbClr val="1F2A2E"/>
                </a:solidFill>
                <a:latin typeface="Calibri"/>
              </a:rPr>
              <a:t>Replay traces from real programs in place of synthetic patterns.</a:t>
            </a:r>
          </a:p>
        </p:txBody>
      </p:sp>
      <p:sp>
        <p:nvSpPr>
          <p:cNvPr id="8" name="Rounded Rectangle 7"/>
          <p:cNvSpPr/>
          <p:nvPr/>
        </p:nvSpPr>
        <p:spPr>
          <a:xfrm>
            <a:off x="548640" y="31089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3218688"/>
            <a:ext cx="4937760" cy="1188720"/>
          </a:xfrm>
          <a:prstGeom prst="rect">
            <a:avLst/>
          </a:prstGeom>
          <a:noFill/>
        </p:spPr>
        <p:txBody>
          <a:bodyPr wrap="square" anchor="ctr" lIns="45720" rIns="45720" tIns="27432" bIns="27432">
            <a:spAutoFit/>
          </a:bodyPr>
          <a:lstStyle/>
          <a:p>
            <a:pPr algn="l">
              <a:spcAft>
                <a:spcPts val="400"/>
              </a:spcAft>
            </a:pPr>
            <a:r>
              <a:rPr sz="1800" b="1" i="0">
                <a:solidFill>
                  <a:srgbClr val="0B7285"/>
                </a:solidFill>
                <a:latin typeface="Calibri"/>
              </a:rPr>
              <a:t>Keep what was learned</a:t>
            </a:r>
          </a:p>
          <a:p>
            <a:pPr algn="l">
              <a:spcAft>
                <a:spcPts val="600"/>
              </a:spcAft>
            </a:pPr>
            <a:r>
              <a:rPr sz="1500" b="0" i="0">
                <a:solidFill>
                  <a:srgbClr val="1F2A2E"/>
                </a:solidFill>
                <a:latin typeface="Calibri"/>
              </a:rPr>
              <a:t>Save the trained tree with the filesystem, so a remount does not start from the log.</a:t>
            </a:r>
          </a:p>
        </p:txBody>
      </p:sp>
      <p:sp>
        <p:nvSpPr>
          <p:cNvPr id="10" name="Rounded Rectangle 9"/>
          <p:cNvSpPr/>
          <p:nvPr/>
        </p:nvSpPr>
        <p:spPr>
          <a:xfrm>
            <a:off x="6217920" y="31089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218688"/>
            <a:ext cx="4937760" cy="1188720"/>
          </a:xfrm>
          <a:prstGeom prst="rect">
            <a:avLst/>
          </a:prstGeom>
          <a:noFill/>
        </p:spPr>
        <p:txBody>
          <a:bodyPr wrap="square" anchor="ctr" lIns="45720" rIns="45720" tIns="27432" bIns="27432">
            <a:spAutoFit/>
          </a:bodyPr>
          <a:lstStyle/>
          <a:p>
            <a:pPr algn="l">
              <a:spcAft>
                <a:spcPts val="400"/>
              </a:spcAft>
            </a:pPr>
            <a:r>
              <a:rPr sz="1800" b="1" i="0">
                <a:solidFill>
                  <a:srgbClr val="0B7285"/>
                </a:solidFill>
                <a:latin typeface="Calibri"/>
              </a:rPr>
              <a:t>Learn the remaining fixed parts</a:t>
            </a:r>
          </a:p>
          <a:p>
            <a:pPr algn="l">
              <a:spcAft>
                <a:spcPts val="600"/>
              </a:spcAft>
            </a:pPr>
            <a:r>
              <a:rPr sz="1500" b="0" i="0">
                <a:solidFill>
                  <a:srgbClr val="1F2A2E"/>
                </a:solidFill>
                <a:latin typeface="Calibri"/>
              </a:rPr>
              <a:t>How many mappings to load per query, and how far ahead to prefetch.</a:t>
            </a:r>
          </a:p>
        </p:txBody>
      </p:sp>
      <p:sp>
        <p:nvSpPr>
          <p:cNvPr id="12" name="Rounded Rectangle 11"/>
          <p:cNvSpPr/>
          <p:nvPr/>
        </p:nvSpPr>
        <p:spPr>
          <a:xfrm>
            <a:off x="548640" y="47091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818888"/>
            <a:ext cx="4937760" cy="1188720"/>
          </a:xfrm>
          <a:prstGeom prst="rect">
            <a:avLst/>
          </a:prstGeom>
          <a:noFill/>
        </p:spPr>
        <p:txBody>
          <a:bodyPr wrap="square" anchor="ctr" lIns="45720" rIns="45720" tIns="27432" bIns="27432">
            <a:spAutoFit/>
          </a:bodyPr>
          <a:lstStyle/>
          <a:p>
            <a:pPr algn="l">
              <a:spcAft>
                <a:spcPts val="400"/>
              </a:spcAft>
            </a:pPr>
            <a:r>
              <a:rPr sz="1800" b="1" i="0">
                <a:solidFill>
                  <a:srgbClr val="0B7285"/>
                </a:solidFill>
                <a:latin typeface="Calibri"/>
              </a:rPr>
              <a:t>A better split model</a:t>
            </a:r>
          </a:p>
          <a:p>
            <a:pPr algn="l">
              <a:spcAft>
                <a:spcPts val="600"/>
              </a:spcAft>
            </a:pPr>
            <a:r>
              <a:rPr sz="1500" b="0" i="0">
                <a:solidFill>
                  <a:srgbClr val="1F2A2E"/>
                </a:solidFill>
                <a:latin typeface="Calibri"/>
              </a:rPr>
              <a:t>Stop moving memory when neither cache is short of it.</a:t>
            </a:r>
          </a:p>
        </p:txBody>
      </p:sp>
      <p:sp>
        <p:nvSpPr>
          <p:cNvPr id="14" name="Rounded Rectangle 13"/>
          <p:cNvSpPr/>
          <p:nvPr/>
        </p:nvSpPr>
        <p:spPr>
          <a:xfrm>
            <a:off x="6217920" y="4709160"/>
            <a:ext cx="5440680" cy="1371600"/>
          </a:xfrm>
          <a:prstGeom prst="roundRect">
            <a:avLst>
              <a:gd name="adj" fmla="val 8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818888"/>
            <a:ext cx="4937760" cy="1188720"/>
          </a:xfrm>
          <a:prstGeom prst="rect">
            <a:avLst/>
          </a:prstGeom>
          <a:noFill/>
        </p:spPr>
        <p:txBody>
          <a:bodyPr wrap="square" anchor="ctr" lIns="45720" rIns="45720" tIns="27432" bIns="27432">
            <a:spAutoFit/>
          </a:bodyPr>
          <a:lstStyle/>
          <a:p>
            <a:pPr algn="l">
              <a:spcAft>
                <a:spcPts val="400"/>
              </a:spcAft>
            </a:pPr>
            <a:r>
              <a:rPr sz="1800" b="1" i="0">
                <a:solidFill>
                  <a:srgbClr val="0B7285"/>
                </a:solidFill>
                <a:latin typeface="Calibri"/>
              </a:rPr>
              <a:t>More than one reader</a:t>
            </a:r>
          </a:p>
          <a:p>
            <a:pPr algn="l">
              <a:spcAft>
                <a:spcPts val="600"/>
              </a:spcAft>
            </a:pPr>
            <a:r>
              <a:rPr sz="1500" b="0" i="0">
                <a:solidFill>
                  <a:srgbClr val="1F2A2E"/>
                </a:solidFill>
                <a:latin typeface="Calibri"/>
              </a:rPr>
              <a:t>The mount is single-threaded today; only prefetch reads run in parallel.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343B"/>
        </a:solidFill>
        <a:effectLst/>
      </p:bgPr>
    </p:bg>
    <p:spTree>
      <p:nvGrpSpPr>
        <p:cNvPr id="1" name=""/>
        <p:cNvGrpSpPr/>
        <p:nvPr/>
      </p:nvGrpSpPr>
      <p:grpSpPr/>
      <p:sp>
        <p:nvSpPr>
          <p:cNvPr id="2" name="Title"/>
          <p:cNvSpPr txBox="1"/>
          <p:nvPr/>
        </p:nvSpPr>
        <p:spPr>
          <a:xfrm>
            <a:off x="731520" y="2103120"/>
            <a:ext cx="10698480" cy="1188720"/>
          </a:xfrm>
          <a:prstGeom prst="rect">
            <a:avLst/>
          </a:prstGeom>
          <a:noFill/>
        </p:spPr>
        <p:txBody>
          <a:bodyPr wrap="square" anchor="t" lIns="45720" rIns="45720" tIns="27432" bIns="27432">
            <a:spAutoFit/>
          </a:bodyPr>
          <a:lstStyle/>
          <a:p>
            <a:pPr algn="l">
              <a:spcAft>
                <a:spcPts val="600"/>
              </a:spcAft>
            </a:pPr>
            <a:r>
              <a:rPr sz="4800" b="1" i="0">
                <a:solidFill>
                  <a:srgbClr val="FFFFFF"/>
                </a:solidFill>
                <a:latin typeface="Cambria"/>
              </a:rPr>
              <a:t>Questions and answers</a:t>
            </a:r>
          </a:p>
        </p:txBody>
      </p:sp>
      <p:sp>
        <p:nvSpPr>
          <p:cNvPr id="3" name="TextBox 2"/>
          <p:cNvSpPr txBox="1"/>
          <p:nvPr/>
        </p:nvSpPr>
        <p:spPr>
          <a:xfrm>
            <a:off x="731520" y="3429000"/>
            <a:ext cx="10698480" cy="548640"/>
          </a:xfrm>
          <a:prstGeom prst="rect">
            <a:avLst/>
          </a:prstGeom>
          <a:noFill/>
        </p:spPr>
        <p:txBody>
          <a:bodyPr wrap="square" anchor="t" lIns="45720" rIns="45720" tIns="27432" bIns="27432">
            <a:spAutoFit/>
          </a:bodyPr>
          <a:lstStyle/>
          <a:p>
            <a:pPr algn="l">
              <a:spcAft>
                <a:spcPts val="600"/>
              </a:spcAft>
            </a:pPr>
            <a:r>
              <a:rPr sz="2400" b="1" i="0">
                <a:solidFill>
                  <a:srgbClr val="E8963A"/>
                </a:solidFill>
                <a:latin typeface="Calibri"/>
              </a:rPr>
              <a:t>Thank you</a:t>
            </a:r>
          </a:p>
        </p:txBody>
      </p:sp>
      <p:sp>
        <p:nvSpPr>
          <p:cNvPr id="4" name="TextBox 3"/>
          <p:cNvSpPr txBox="1"/>
          <p:nvPr/>
        </p:nvSpPr>
        <p:spPr>
          <a:xfrm>
            <a:off x="731520" y="4297680"/>
            <a:ext cx="10698480" cy="1463040"/>
          </a:xfrm>
          <a:prstGeom prst="rect">
            <a:avLst/>
          </a:prstGeom>
          <a:noFill/>
        </p:spPr>
        <p:txBody>
          <a:bodyPr wrap="square" anchor="t" lIns="45720" rIns="45720" tIns="27432" bIns="27432">
            <a:spAutoFit/>
          </a:bodyPr>
          <a:lstStyle/>
          <a:p>
            <a:pPr algn="l">
              <a:spcAft>
                <a:spcPts val="800"/>
              </a:spcAft>
            </a:pPr>
            <a:r>
              <a:rPr sz="1600" b="0" i="0">
                <a:solidFill>
                  <a:srgbClr val="B9D5D9"/>
                </a:solidFill>
                <a:latin typeface="Calibri"/>
              </a:rPr>
              <a:t>Harshit Choudhary (24BIT0237)   |   Shravya Jain (24BIT0231)   |   Arnav Aditya (24BIT0213)</a:t>
            </a:r>
          </a:p>
          <a:p>
            <a:pPr algn="l">
              <a:spcAft>
                <a:spcPts val="800"/>
              </a:spcAft>
            </a:pPr>
            <a:r>
              <a:rPr sz="1600" b="0" i="0">
                <a:solidFill>
                  <a:srgbClr val="B9D5D9"/>
                </a:solidFill>
                <a:latin typeface="Calibri"/>
              </a:rPr>
              <a:t>BITE303P Operating Systems Lab, Fall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AI-Enhanced Database-Backed Filesystem with Adaptive Storage Optimization</dc:title>
  <dc:subject/>
  <dc:creator>Harshit Choudhary, Shravya Jain, Arnav Aditya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